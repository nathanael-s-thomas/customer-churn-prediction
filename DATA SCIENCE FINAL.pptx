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-212853"/>
            <a:ext cx="12191697" cy="212853"/>
          </a:xfrm>
          <a:prstGeom prst="rect">
            <a:avLst/>
          </a:prstGeom>
          <a:solidFill>
            <a:srgbClr val="246F5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14"/>
          <p:cNvSpPr txBox="1"/>
          <p:nvPr/>
        </p:nvSpPr>
        <p:spPr>
          <a:xfrm>
            <a:off x="9864460" y="561593"/>
            <a:ext cx="2324120" cy="974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5900">
                <a:solidFill>
                  <a:srgbClr val="285D9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IBM</a:t>
            </a:r>
          </a:p>
        </p:txBody>
      </p:sp>
      <p:sp>
        <p:nvSpPr>
          <p:cNvPr id="96" name="TextBox 16"/>
          <p:cNvSpPr txBox="1"/>
          <p:nvPr/>
        </p:nvSpPr>
        <p:spPr>
          <a:xfrm>
            <a:off x="1920239" y="356869"/>
            <a:ext cx="8138161" cy="365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9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SHRI RAMSWAROOP MEMORIAL UNIVERSITY</a:t>
            </a:r>
          </a:p>
        </p:txBody>
      </p:sp>
      <p:sp>
        <p:nvSpPr>
          <p:cNvPr id="97" name="TextBox 17"/>
          <p:cNvSpPr txBox="1"/>
          <p:nvPr/>
        </p:nvSpPr>
        <p:spPr>
          <a:xfrm>
            <a:off x="1874518" y="767841"/>
            <a:ext cx="8229601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100">
                <a:solidFill>
                  <a:srgbClr val="676D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Lucknow–Deva Road, Barabanki, Uttar Pradesh</a:t>
            </a:r>
          </a:p>
        </p:txBody>
      </p:sp>
      <p:sp>
        <p:nvSpPr>
          <p:cNvPr id="98" name="Rectangle 18"/>
          <p:cNvSpPr/>
          <p:nvPr/>
        </p:nvSpPr>
        <p:spPr>
          <a:xfrm>
            <a:off x="2423160" y="1161288"/>
            <a:ext cx="7315201" cy="22861"/>
          </a:xfrm>
          <a:prstGeom prst="rect">
            <a:avLst/>
          </a:prstGeom>
          <a:solidFill>
            <a:srgbClr val="E5EB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19"/>
          <p:cNvSpPr txBox="1"/>
          <p:nvPr/>
        </p:nvSpPr>
        <p:spPr>
          <a:xfrm>
            <a:off x="914399" y="1547113"/>
            <a:ext cx="1033272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400">
                <a:solidFill>
                  <a:srgbClr val="246F52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INNOVATIVE IT  •  INNOVATIVE INTERNAL TEST PROJECT</a:t>
            </a:r>
          </a:p>
        </p:txBody>
      </p:sp>
      <p:sp>
        <p:nvSpPr>
          <p:cNvPr id="100" name="TextBox 20"/>
          <p:cNvSpPr txBox="1"/>
          <p:nvPr/>
        </p:nvSpPr>
        <p:spPr>
          <a:xfrm>
            <a:off x="914399" y="1995678"/>
            <a:ext cx="10332722" cy="54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31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CHURN PREDICTION</a:t>
            </a:r>
          </a:p>
        </p:txBody>
      </p:sp>
      <p:sp>
        <p:nvSpPr>
          <p:cNvPr id="101" name="TextBox 21"/>
          <p:cNvSpPr txBox="1"/>
          <p:nvPr/>
        </p:nvSpPr>
        <p:spPr>
          <a:xfrm>
            <a:off x="1005839" y="2447163"/>
            <a:ext cx="10149842" cy="3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 Science analysis of customer behaviour and retention patterns</a:t>
            </a:r>
          </a:p>
        </p:txBody>
      </p:sp>
      <p:sp>
        <p:nvSpPr>
          <p:cNvPr id="102" name="TextBox 22"/>
          <p:cNvSpPr txBox="1"/>
          <p:nvPr/>
        </p:nvSpPr>
        <p:spPr>
          <a:xfrm>
            <a:off x="1005839" y="2867406"/>
            <a:ext cx="10149842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300">
                <a:solidFill>
                  <a:srgbClr val="285D9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SUBJECT: DATA SCIENCE     |     SEMESTER: V</a:t>
            </a:r>
          </a:p>
        </p:txBody>
      </p:sp>
      <p:sp>
        <p:nvSpPr>
          <p:cNvPr id="103" name="Rounded Rectangle 23"/>
          <p:cNvSpPr/>
          <p:nvPr/>
        </p:nvSpPr>
        <p:spPr>
          <a:xfrm>
            <a:off x="1380490" y="3220211"/>
            <a:ext cx="9418320" cy="685801"/>
          </a:xfrm>
          <a:prstGeom prst="roundRect">
            <a:avLst>
              <a:gd name="adj" fmla="val 16667"/>
            </a:avLst>
          </a:prstGeom>
          <a:solidFill>
            <a:srgbClr val="F1F4F6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4"/>
          <p:cNvSpPr txBox="1"/>
          <p:nvPr/>
        </p:nvSpPr>
        <p:spPr>
          <a:xfrm>
            <a:off x="1663700" y="3323335"/>
            <a:ext cx="8869681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300"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project report on exploring a public telecom customer dataset, identifying churn patterns, and outlining a machine-learning approach.</a:t>
            </a:r>
          </a:p>
        </p:txBody>
      </p:sp>
      <p:sp>
        <p:nvSpPr>
          <p:cNvPr id="105" name="TextBox 25"/>
          <p:cNvSpPr txBox="1"/>
          <p:nvPr/>
        </p:nvSpPr>
        <p:spPr>
          <a:xfrm>
            <a:off x="923289" y="5184965"/>
            <a:ext cx="10332722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200">
                <a:solidFill>
                  <a:srgbClr val="676D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SUBMITTED BY</a:t>
            </a:r>
          </a:p>
        </p:txBody>
      </p:sp>
      <p:sp>
        <p:nvSpPr>
          <p:cNvPr id="106" name="Rectangle 26"/>
          <p:cNvSpPr/>
          <p:nvPr/>
        </p:nvSpPr>
        <p:spPr>
          <a:xfrm>
            <a:off x="1143000" y="5440679"/>
            <a:ext cx="4709160" cy="777241"/>
          </a:xfrm>
          <a:prstGeom prst="rect">
            <a:avLst/>
          </a:prstGeom>
          <a:solidFill>
            <a:srgbClr val="FFFFFF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7"/>
          <p:cNvSpPr txBox="1"/>
          <p:nvPr/>
        </p:nvSpPr>
        <p:spPr>
          <a:xfrm>
            <a:off x="1280159" y="5475477"/>
            <a:ext cx="443484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6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Aman Kumar Sharma</a:t>
            </a:r>
          </a:p>
        </p:txBody>
      </p:sp>
      <p:sp>
        <p:nvSpPr>
          <p:cNvPr id="108" name="TextBox 28"/>
          <p:cNvSpPr txBox="1"/>
          <p:nvPr/>
        </p:nvSpPr>
        <p:spPr>
          <a:xfrm>
            <a:off x="1280159" y="5801614"/>
            <a:ext cx="4434842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100"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 No. 202410101150011</a:t>
            </a:r>
          </a:p>
        </p:txBody>
      </p:sp>
      <p:sp>
        <p:nvSpPr>
          <p:cNvPr id="109" name="Rectangle 29"/>
          <p:cNvSpPr/>
          <p:nvPr/>
        </p:nvSpPr>
        <p:spPr>
          <a:xfrm>
            <a:off x="6263640" y="5440679"/>
            <a:ext cx="4709160" cy="777241"/>
          </a:xfrm>
          <a:prstGeom prst="rect">
            <a:avLst/>
          </a:prstGeom>
          <a:solidFill>
            <a:srgbClr val="FFFFFF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30"/>
          <p:cNvSpPr txBox="1"/>
          <p:nvPr/>
        </p:nvSpPr>
        <p:spPr>
          <a:xfrm>
            <a:off x="6400800" y="5475477"/>
            <a:ext cx="443484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6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Nathanael S. Thomas</a:t>
            </a:r>
          </a:p>
        </p:txBody>
      </p:sp>
      <p:sp>
        <p:nvSpPr>
          <p:cNvPr id="111" name="TextBox 31"/>
          <p:cNvSpPr txBox="1"/>
          <p:nvPr/>
        </p:nvSpPr>
        <p:spPr>
          <a:xfrm>
            <a:off x="6400800" y="5801614"/>
            <a:ext cx="4434841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sz="1100">
                <a:solidFill>
                  <a:srgbClr val="363B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Roll No. 202410101150009</a:t>
            </a:r>
          </a:p>
        </p:txBody>
      </p:sp>
      <p:pic>
        <p:nvPicPr>
          <p:cNvPr id="112" name="image1.tif" descr="image1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6908" y="409321"/>
            <a:ext cx="1970152" cy="197015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Box 25"/>
          <p:cNvSpPr txBox="1"/>
          <p:nvPr/>
        </p:nvSpPr>
        <p:spPr>
          <a:xfrm>
            <a:off x="1322399" y="4012120"/>
            <a:ext cx="10332722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200">
                <a:solidFill>
                  <a:srgbClr val="676D7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SUBMITTED TO</a:t>
            </a:r>
          </a:p>
        </p:txBody>
      </p:sp>
      <p:sp>
        <p:nvSpPr>
          <p:cNvPr id="114" name="Rectangle 26"/>
          <p:cNvSpPr/>
          <p:nvPr/>
        </p:nvSpPr>
        <p:spPr>
          <a:xfrm>
            <a:off x="4323007" y="4304506"/>
            <a:ext cx="4222947" cy="777241"/>
          </a:xfrm>
          <a:prstGeom prst="rect">
            <a:avLst/>
          </a:prstGeom>
          <a:solidFill>
            <a:srgbClr val="FFFFFF"/>
          </a:solidFill>
          <a:ln>
            <a:solidFill>
              <a:srgbClr val="E5EB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7"/>
          <p:cNvSpPr txBox="1"/>
          <p:nvPr/>
        </p:nvSpPr>
        <p:spPr>
          <a:xfrm>
            <a:off x="4099680" y="4465923"/>
            <a:ext cx="443484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600">
                <a:solidFill>
                  <a:srgbClr val="1E30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RAGHAV SHARMA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1. Introduction</a:t>
            </a:r>
          </a:p>
        </p:txBody>
      </p:sp>
      <p:sp>
        <p:nvSpPr>
          <p:cNvPr id="119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Churn Prediction | Data Science project</a:t>
            </a:r>
          </a:p>
        </p:txBody>
      </p:sp>
      <p:sp>
        <p:nvSpPr>
          <p:cNvPr id="120" name="Rounded Rectangle 5"/>
          <p:cNvSpPr/>
          <p:nvPr/>
        </p:nvSpPr>
        <p:spPr>
          <a:xfrm>
            <a:off x="594359" y="1417319"/>
            <a:ext cx="539496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6"/>
          <p:cNvSpPr/>
          <p:nvPr/>
        </p:nvSpPr>
        <p:spPr>
          <a:xfrm>
            <a:off x="594359" y="1417319"/>
            <a:ext cx="73153" cy="1828801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7"/>
          <p:cNvSpPr txBox="1"/>
          <p:nvPr/>
        </p:nvSpPr>
        <p:spPr>
          <a:xfrm>
            <a:off x="813816" y="1572768"/>
            <a:ext cx="497433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is customer churn?</a:t>
            </a:r>
          </a:p>
        </p:txBody>
      </p:sp>
      <p:sp>
        <p:nvSpPr>
          <p:cNvPr id="123" name="TextBox 8"/>
          <p:cNvSpPr txBox="1"/>
          <p:nvPr/>
        </p:nvSpPr>
        <p:spPr>
          <a:xfrm>
            <a:off x="813816" y="1956815"/>
            <a:ext cx="4974336" cy="1001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6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churn occurs when a customer stops using a company’s service. Predicting churn helps businesses identify customers who may leave and take action early.</a:t>
            </a:r>
          </a:p>
        </p:txBody>
      </p:sp>
      <p:sp>
        <p:nvSpPr>
          <p:cNvPr id="124" name="Rounded Rectangle 9"/>
          <p:cNvSpPr/>
          <p:nvPr/>
        </p:nvSpPr>
        <p:spPr>
          <a:xfrm>
            <a:off x="6217920" y="1417319"/>
            <a:ext cx="534924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10"/>
          <p:cNvSpPr/>
          <p:nvPr/>
        </p:nvSpPr>
        <p:spPr>
          <a:xfrm>
            <a:off x="6217920" y="1417319"/>
            <a:ext cx="73153" cy="1828801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11"/>
          <p:cNvSpPr txBox="1"/>
          <p:nvPr/>
        </p:nvSpPr>
        <p:spPr>
          <a:xfrm>
            <a:off x="6437376" y="1572768"/>
            <a:ext cx="492861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goal</a:t>
            </a:r>
          </a:p>
        </p:txBody>
      </p:sp>
      <p:sp>
        <p:nvSpPr>
          <p:cNvPr id="127" name="TextBox 12"/>
          <p:cNvSpPr txBox="1"/>
          <p:nvPr/>
        </p:nvSpPr>
        <p:spPr>
          <a:xfrm>
            <a:off x="6437376" y="1956815"/>
            <a:ext cx="4928616" cy="760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6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customer information to explore churn patterns, train classification models, and build an interactive dashboard that estimates churn risk.</a:t>
            </a:r>
          </a:p>
        </p:txBody>
      </p:sp>
      <p:sp>
        <p:nvSpPr>
          <p:cNvPr id="128" name="TextBox 13"/>
          <p:cNvSpPr txBox="1"/>
          <p:nvPr/>
        </p:nvSpPr>
        <p:spPr>
          <a:xfrm>
            <a:off x="749807" y="3758182"/>
            <a:ext cx="10661906" cy="315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Project objectives</a:t>
            </a:r>
          </a:p>
        </p:txBody>
      </p:sp>
      <p:sp>
        <p:nvSpPr>
          <p:cNvPr id="129" name="Rounded Rectangle 14"/>
          <p:cNvSpPr/>
          <p:nvPr/>
        </p:nvSpPr>
        <p:spPr>
          <a:xfrm>
            <a:off x="731519" y="4251959"/>
            <a:ext cx="342900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15"/>
          <p:cNvSpPr/>
          <p:nvPr/>
        </p:nvSpPr>
        <p:spPr>
          <a:xfrm>
            <a:off x="731519" y="4251959"/>
            <a:ext cx="73153" cy="1325881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6"/>
          <p:cNvSpPr txBox="1"/>
          <p:nvPr/>
        </p:nvSpPr>
        <p:spPr>
          <a:xfrm>
            <a:off x="950975" y="4407408"/>
            <a:ext cx="300837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Explore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950975" y="4791455"/>
            <a:ext cx="3008378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Understand churn patterns using charts.</a:t>
            </a:r>
          </a:p>
        </p:txBody>
      </p:sp>
      <p:sp>
        <p:nvSpPr>
          <p:cNvPr id="133" name="Rounded Rectangle 18"/>
          <p:cNvSpPr/>
          <p:nvPr/>
        </p:nvSpPr>
        <p:spPr>
          <a:xfrm>
            <a:off x="4480559" y="4251959"/>
            <a:ext cx="342900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19"/>
          <p:cNvSpPr/>
          <p:nvPr/>
        </p:nvSpPr>
        <p:spPr>
          <a:xfrm>
            <a:off x="4480559" y="4251959"/>
            <a:ext cx="73153" cy="1325881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20"/>
          <p:cNvSpPr txBox="1"/>
          <p:nvPr/>
        </p:nvSpPr>
        <p:spPr>
          <a:xfrm>
            <a:off x="4700014" y="4407408"/>
            <a:ext cx="300837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Predict</a:t>
            </a:r>
          </a:p>
        </p:txBody>
      </p:sp>
      <p:sp>
        <p:nvSpPr>
          <p:cNvPr id="136" name="TextBox 21"/>
          <p:cNvSpPr txBox="1"/>
          <p:nvPr/>
        </p:nvSpPr>
        <p:spPr>
          <a:xfrm>
            <a:off x="4700014" y="4791455"/>
            <a:ext cx="3008378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Compare Logistic Regression and Random Forest.</a:t>
            </a:r>
          </a:p>
        </p:txBody>
      </p:sp>
      <p:sp>
        <p:nvSpPr>
          <p:cNvPr id="137" name="Rounded Rectangle 22"/>
          <p:cNvSpPr/>
          <p:nvPr/>
        </p:nvSpPr>
        <p:spPr>
          <a:xfrm>
            <a:off x="8229600" y="4251959"/>
            <a:ext cx="3429000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Rectangle 23"/>
          <p:cNvSpPr/>
          <p:nvPr/>
        </p:nvSpPr>
        <p:spPr>
          <a:xfrm>
            <a:off x="8229599" y="4251959"/>
            <a:ext cx="73154" cy="132588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4"/>
          <p:cNvSpPr txBox="1"/>
          <p:nvPr/>
        </p:nvSpPr>
        <p:spPr>
          <a:xfrm>
            <a:off x="8449056" y="4407408"/>
            <a:ext cx="30083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Explain</a:t>
            </a:r>
          </a:p>
        </p:txBody>
      </p:sp>
      <p:sp>
        <p:nvSpPr>
          <p:cNvPr id="140" name="TextBox 25"/>
          <p:cNvSpPr txBox="1"/>
          <p:nvPr/>
        </p:nvSpPr>
        <p:spPr>
          <a:xfrm>
            <a:off x="8449056" y="4791455"/>
            <a:ext cx="3008377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Present model metrics and risk estimates clearly.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2. Dataset &amp; Workflow</a:t>
            </a:r>
          </a:p>
        </p:txBody>
      </p:sp>
      <p:sp>
        <p:nvSpPr>
          <p:cNvPr id="144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clear view of the inputs and the process</a:t>
            </a:r>
          </a:p>
        </p:txBody>
      </p:sp>
      <p:sp>
        <p:nvSpPr>
          <p:cNvPr id="145" name="Rounded Rectangle 5"/>
          <p:cNvSpPr/>
          <p:nvPr/>
        </p:nvSpPr>
        <p:spPr>
          <a:xfrm>
            <a:off x="594359" y="1371600"/>
            <a:ext cx="5303522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6"/>
          <p:cNvSpPr/>
          <p:nvPr/>
        </p:nvSpPr>
        <p:spPr>
          <a:xfrm>
            <a:off x="594359" y="1371600"/>
            <a:ext cx="73153" cy="2011679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7"/>
          <p:cNvSpPr txBox="1"/>
          <p:nvPr/>
        </p:nvSpPr>
        <p:spPr>
          <a:xfrm>
            <a:off x="813816" y="1527047"/>
            <a:ext cx="488289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48" name="TextBox 8"/>
          <p:cNvSpPr txBox="1"/>
          <p:nvPr/>
        </p:nvSpPr>
        <p:spPr>
          <a:xfrm>
            <a:off x="813816" y="1911095"/>
            <a:ext cx="4882896" cy="1179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5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included CSV contains 5,000 synthetic demonstration customer records. Features represent customer tenure, contract, monthly charges and service details. The target column indicates whether the customer churned.</a:t>
            </a:r>
          </a:p>
        </p:txBody>
      </p:sp>
      <p:sp>
        <p:nvSpPr>
          <p:cNvPr id="149" name="Rounded Rectangle 9"/>
          <p:cNvSpPr/>
          <p:nvPr/>
        </p:nvSpPr>
        <p:spPr>
          <a:xfrm>
            <a:off x="6172200" y="1371600"/>
            <a:ext cx="53949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Rectangle 10"/>
          <p:cNvSpPr/>
          <p:nvPr/>
        </p:nvSpPr>
        <p:spPr>
          <a:xfrm>
            <a:off x="6172199" y="1371600"/>
            <a:ext cx="73154" cy="2011679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11"/>
          <p:cNvSpPr txBox="1"/>
          <p:nvPr/>
        </p:nvSpPr>
        <p:spPr>
          <a:xfrm>
            <a:off x="6391655" y="1527047"/>
            <a:ext cx="49743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Target and inputs</a:t>
            </a:r>
          </a:p>
        </p:txBody>
      </p:sp>
      <p:sp>
        <p:nvSpPr>
          <p:cNvPr id="152" name="TextBox 12"/>
          <p:cNvSpPr txBox="1"/>
          <p:nvPr/>
        </p:nvSpPr>
        <p:spPr>
          <a:xfrm>
            <a:off x="6391655" y="1911095"/>
            <a:ext cx="4974337" cy="950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5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Target: Churn (Yes/No). Inputs may include tenure, contract type, monthly charges and other customer attributes. IDs and target leakage fields should not be used as predictors.</a:t>
            </a:r>
          </a:p>
        </p:txBody>
      </p:sp>
      <p:sp>
        <p:nvSpPr>
          <p:cNvPr id="153" name="TextBox 13"/>
          <p:cNvSpPr txBox="1"/>
          <p:nvPr/>
        </p:nvSpPr>
        <p:spPr>
          <a:xfrm>
            <a:off x="749807" y="3803903"/>
            <a:ext cx="10661906" cy="315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Workflow</a:t>
            </a:r>
          </a:p>
        </p:txBody>
      </p:sp>
      <p:sp>
        <p:nvSpPr>
          <p:cNvPr id="154" name="Rounded Rectangle 14"/>
          <p:cNvSpPr/>
          <p:nvPr/>
        </p:nvSpPr>
        <p:spPr>
          <a:xfrm>
            <a:off x="502919" y="4434840"/>
            <a:ext cx="169164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6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5"/>
          <p:cNvSpPr txBox="1"/>
          <p:nvPr/>
        </p:nvSpPr>
        <p:spPr>
          <a:xfrm>
            <a:off x="630936" y="4581143"/>
            <a:ext cx="283465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6" name="TextBox 16"/>
          <p:cNvSpPr txBox="1"/>
          <p:nvPr/>
        </p:nvSpPr>
        <p:spPr>
          <a:xfrm>
            <a:off x="960120" y="4562855"/>
            <a:ext cx="11064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Load CSV</a:t>
            </a:r>
          </a:p>
        </p:txBody>
      </p:sp>
      <p:sp>
        <p:nvSpPr>
          <p:cNvPr id="157" name="Rounded Rectangle 17"/>
          <p:cNvSpPr/>
          <p:nvPr/>
        </p:nvSpPr>
        <p:spPr>
          <a:xfrm>
            <a:off x="2441448" y="4434840"/>
            <a:ext cx="169164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6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18"/>
          <p:cNvSpPr txBox="1"/>
          <p:nvPr/>
        </p:nvSpPr>
        <p:spPr>
          <a:xfrm>
            <a:off x="2569464" y="4581143"/>
            <a:ext cx="283465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9" name="TextBox 19"/>
          <p:cNvSpPr txBox="1"/>
          <p:nvPr/>
        </p:nvSpPr>
        <p:spPr>
          <a:xfrm>
            <a:off x="2898648" y="4562855"/>
            <a:ext cx="1106425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Clean / encode</a:t>
            </a:r>
          </a:p>
        </p:txBody>
      </p:sp>
      <p:sp>
        <p:nvSpPr>
          <p:cNvPr id="160" name="Rounded Rectangle 20"/>
          <p:cNvSpPr/>
          <p:nvPr/>
        </p:nvSpPr>
        <p:spPr>
          <a:xfrm>
            <a:off x="4379976" y="4434840"/>
            <a:ext cx="169164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6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21"/>
          <p:cNvSpPr txBox="1"/>
          <p:nvPr/>
        </p:nvSpPr>
        <p:spPr>
          <a:xfrm>
            <a:off x="4507991" y="4581143"/>
            <a:ext cx="283465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2" name="TextBox 22"/>
          <p:cNvSpPr txBox="1"/>
          <p:nvPr/>
        </p:nvSpPr>
        <p:spPr>
          <a:xfrm>
            <a:off x="4837176" y="4562855"/>
            <a:ext cx="11064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Split data</a:t>
            </a:r>
          </a:p>
        </p:txBody>
      </p:sp>
      <p:sp>
        <p:nvSpPr>
          <p:cNvPr id="163" name="Rounded Rectangle 23"/>
          <p:cNvSpPr/>
          <p:nvPr/>
        </p:nvSpPr>
        <p:spPr>
          <a:xfrm>
            <a:off x="6318503" y="4434840"/>
            <a:ext cx="169164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6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24"/>
          <p:cNvSpPr txBox="1"/>
          <p:nvPr/>
        </p:nvSpPr>
        <p:spPr>
          <a:xfrm>
            <a:off x="6446520" y="4581143"/>
            <a:ext cx="283465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5" name="TextBox 25"/>
          <p:cNvSpPr txBox="1"/>
          <p:nvPr/>
        </p:nvSpPr>
        <p:spPr>
          <a:xfrm>
            <a:off x="6775704" y="4562855"/>
            <a:ext cx="11064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Train models</a:t>
            </a:r>
          </a:p>
        </p:txBody>
      </p:sp>
      <p:sp>
        <p:nvSpPr>
          <p:cNvPr id="166" name="Rounded Rectangle 26"/>
          <p:cNvSpPr/>
          <p:nvPr/>
        </p:nvSpPr>
        <p:spPr>
          <a:xfrm>
            <a:off x="8257031" y="4434840"/>
            <a:ext cx="169164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6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7"/>
          <p:cNvSpPr txBox="1"/>
          <p:nvPr/>
        </p:nvSpPr>
        <p:spPr>
          <a:xfrm>
            <a:off x="8385047" y="4581143"/>
            <a:ext cx="283465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8" name="TextBox 28"/>
          <p:cNvSpPr txBox="1"/>
          <p:nvPr/>
        </p:nvSpPr>
        <p:spPr>
          <a:xfrm>
            <a:off x="8714231" y="4562855"/>
            <a:ext cx="11064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Evaluate</a:t>
            </a:r>
          </a:p>
        </p:txBody>
      </p:sp>
      <p:sp>
        <p:nvSpPr>
          <p:cNvPr id="169" name="Rounded Rectangle 29"/>
          <p:cNvSpPr/>
          <p:nvPr/>
        </p:nvSpPr>
        <p:spPr>
          <a:xfrm>
            <a:off x="10195559" y="4434840"/>
            <a:ext cx="169164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6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30"/>
          <p:cNvSpPr txBox="1"/>
          <p:nvPr/>
        </p:nvSpPr>
        <p:spPr>
          <a:xfrm>
            <a:off x="10323576" y="4581143"/>
            <a:ext cx="283465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1" name="TextBox 31"/>
          <p:cNvSpPr txBox="1"/>
          <p:nvPr/>
        </p:nvSpPr>
        <p:spPr>
          <a:xfrm>
            <a:off x="10652759" y="4562855"/>
            <a:ext cx="1106425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Show dashboard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3. Exploratory Data Analysis</a:t>
            </a:r>
          </a:p>
        </p:txBody>
      </p:sp>
      <p:sp>
        <p:nvSpPr>
          <p:cNvPr id="175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Visualisations reveal which customer groups may need attention</a:t>
            </a:r>
          </a:p>
        </p:txBody>
      </p:sp>
      <p:sp>
        <p:nvSpPr>
          <p:cNvPr id="176" name="TextBox 5"/>
          <p:cNvSpPr txBox="1"/>
          <p:nvPr/>
        </p:nvSpPr>
        <p:spPr>
          <a:xfrm>
            <a:off x="704087" y="1243583"/>
            <a:ext cx="5084066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Illustrative churn distribution</a:t>
            </a:r>
          </a:p>
        </p:txBody>
      </p:sp>
      <p:sp>
        <p:nvSpPr>
          <p:cNvPr id="177" name="TextBox 6"/>
          <p:cNvSpPr txBox="1"/>
          <p:nvPr/>
        </p:nvSpPr>
        <p:spPr>
          <a:xfrm>
            <a:off x="749807" y="1792223"/>
            <a:ext cx="106070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Retained</a:t>
            </a:r>
          </a:p>
        </p:txBody>
      </p:sp>
      <p:sp>
        <p:nvSpPr>
          <p:cNvPr id="178" name="Rectangle 7"/>
          <p:cNvSpPr/>
          <p:nvPr/>
        </p:nvSpPr>
        <p:spPr>
          <a:xfrm>
            <a:off x="1828799" y="1764792"/>
            <a:ext cx="3246122" cy="256033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8"/>
          <p:cNvSpPr txBox="1"/>
          <p:nvPr/>
        </p:nvSpPr>
        <p:spPr>
          <a:xfrm>
            <a:off x="5230367" y="1755648"/>
            <a:ext cx="603505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300">
                <a:solidFill>
                  <a:srgbClr val="268B8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~74%</a:t>
            </a:r>
          </a:p>
        </p:txBody>
      </p:sp>
      <p:sp>
        <p:nvSpPr>
          <p:cNvPr id="180" name="TextBox 9"/>
          <p:cNvSpPr txBox="1"/>
          <p:nvPr/>
        </p:nvSpPr>
        <p:spPr>
          <a:xfrm>
            <a:off x="749807" y="2249423"/>
            <a:ext cx="106070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Churned</a:t>
            </a:r>
          </a:p>
        </p:txBody>
      </p:sp>
      <p:sp>
        <p:nvSpPr>
          <p:cNvPr id="181" name="Rectangle 10"/>
          <p:cNvSpPr/>
          <p:nvPr/>
        </p:nvSpPr>
        <p:spPr>
          <a:xfrm>
            <a:off x="1828799" y="2221992"/>
            <a:ext cx="1161290" cy="256033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11"/>
          <p:cNvSpPr txBox="1"/>
          <p:nvPr/>
        </p:nvSpPr>
        <p:spPr>
          <a:xfrm>
            <a:off x="3127248" y="2212848"/>
            <a:ext cx="603505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300">
                <a:solidFill>
                  <a:srgbClr val="E6AA4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~26%</a:t>
            </a:r>
          </a:p>
        </p:txBody>
      </p:sp>
      <p:sp>
        <p:nvSpPr>
          <p:cNvPr id="183" name="Rounded Rectangle 12"/>
          <p:cNvSpPr/>
          <p:nvPr/>
        </p:nvSpPr>
        <p:spPr>
          <a:xfrm>
            <a:off x="6217920" y="1325880"/>
            <a:ext cx="5257801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13"/>
          <p:cNvSpPr/>
          <p:nvPr/>
        </p:nvSpPr>
        <p:spPr>
          <a:xfrm>
            <a:off x="6217920" y="1325879"/>
            <a:ext cx="73153" cy="1508762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4"/>
          <p:cNvSpPr txBox="1"/>
          <p:nvPr/>
        </p:nvSpPr>
        <p:spPr>
          <a:xfrm>
            <a:off x="6437375" y="1481327"/>
            <a:ext cx="483717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Contract type</a:t>
            </a:r>
          </a:p>
        </p:txBody>
      </p:sp>
      <p:sp>
        <p:nvSpPr>
          <p:cNvPr id="186" name="TextBox 15"/>
          <p:cNvSpPr txBox="1"/>
          <p:nvPr/>
        </p:nvSpPr>
        <p:spPr>
          <a:xfrm>
            <a:off x="6437375" y="1865375"/>
            <a:ext cx="4837178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Customers on month-to-month contracts often show higher churn than customers on longer contracts.</a:t>
            </a:r>
          </a:p>
        </p:txBody>
      </p:sp>
      <p:sp>
        <p:nvSpPr>
          <p:cNvPr id="187" name="Rounded Rectangle 16"/>
          <p:cNvSpPr/>
          <p:nvPr/>
        </p:nvSpPr>
        <p:spPr>
          <a:xfrm>
            <a:off x="6217920" y="3063239"/>
            <a:ext cx="5257801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17"/>
          <p:cNvSpPr/>
          <p:nvPr/>
        </p:nvSpPr>
        <p:spPr>
          <a:xfrm>
            <a:off x="6217920" y="3063239"/>
            <a:ext cx="73153" cy="1508761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8"/>
          <p:cNvSpPr txBox="1"/>
          <p:nvPr/>
        </p:nvSpPr>
        <p:spPr>
          <a:xfrm>
            <a:off x="6437375" y="3218688"/>
            <a:ext cx="483717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Tenure</a:t>
            </a:r>
          </a:p>
        </p:txBody>
      </p:sp>
      <p:sp>
        <p:nvSpPr>
          <p:cNvPr id="190" name="TextBox 19"/>
          <p:cNvSpPr txBox="1"/>
          <p:nvPr/>
        </p:nvSpPr>
        <p:spPr>
          <a:xfrm>
            <a:off x="6437375" y="3602735"/>
            <a:ext cx="4837178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Newer customers can be more likely to leave, so onboarding and early support may matter.</a:t>
            </a:r>
          </a:p>
        </p:txBody>
      </p:sp>
      <p:sp>
        <p:nvSpPr>
          <p:cNvPr id="191" name="Rounded Rectangle 20"/>
          <p:cNvSpPr/>
          <p:nvPr/>
        </p:nvSpPr>
        <p:spPr>
          <a:xfrm>
            <a:off x="731519" y="3794759"/>
            <a:ext cx="5074922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Rectangle 21"/>
          <p:cNvSpPr/>
          <p:nvPr/>
        </p:nvSpPr>
        <p:spPr>
          <a:xfrm>
            <a:off x="731519" y="3794759"/>
            <a:ext cx="73153" cy="123444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22"/>
          <p:cNvSpPr txBox="1"/>
          <p:nvPr/>
        </p:nvSpPr>
        <p:spPr>
          <a:xfrm>
            <a:off x="950976" y="3950208"/>
            <a:ext cx="465429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Charges</a:t>
            </a:r>
          </a:p>
        </p:txBody>
      </p:sp>
      <p:sp>
        <p:nvSpPr>
          <p:cNvPr id="194" name="TextBox 23"/>
          <p:cNvSpPr txBox="1"/>
          <p:nvPr/>
        </p:nvSpPr>
        <p:spPr>
          <a:xfrm>
            <a:off x="950976" y="4334255"/>
            <a:ext cx="4654296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Review monthly charges alongside contract and tenure; one feature alone rarely explains churn.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4. Code: Load Data &amp; Prepare Features</a:t>
            </a:r>
          </a:p>
        </p:txBody>
      </p:sp>
      <p:sp>
        <p:nvSpPr>
          <p:cNvPr id="198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Explain what the code takes as input and what it produces</a:t>
            </a:r>
          </a:p>
        </p:txBody>
      </p:sp>
      <p:sp>
        <p:nvSpPr>
          <p:cNvPr id="199" name="Rounded Rectangle 5"/>
          <p:cNvSpPr/>
          <p:nvPr/>
        </p:nvSpPr>
        <p:spPr>
          <a:xfrm>
            <a:off x="640080" y="1325880"/>
            <a:ext cx="6629401" cy="4297680"/>
          </a:xfrm>
          <a:prstGeom prst="roundRect">
            <a:avLst>
              <a:gd name="adj" fmla="val 16667"/>
            </a:avLst>
          </a:prstGeom>
          <a:solidFill>
            <a:srgbClr val="182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6"/>
          <p:cNvSpPr txBox="1"/>
          <p:nvPr/>
        </p:nvSpPr>
        <p:spPr>
          <a:xfrm>
            <a:off x="914399" y="1536191"/>
            <a:ext cx="6126482" cy="237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import pandas as pd</a:t>
            </a:r>
            <a:br/>
            <a:r>
              <a:t>from sklearn.model_selection import train_test_split</a:t>
            </a:r>
            <a:br/>
            <a:br/>
            <a:r>
              <a:t>df = pd.read_csv("data/customer_churn_demo.csv")</a:t>
            </a:r>
            <a:br/>
            <a:r>
              <a:t>X = df.drop(columns=["Churn"])</a:t>
            </a:r>
            <a:br/>
            <a:r>
              <a:t>y = df["Churn"].map({"No": 0, "Yes": 1})</a:t>
            </a:r>
            <a:br/>
            <a:br/>
            <a:r>
              <a:t>X_train, X_test, y_train, y_test = train_test_split(</a:t>
            </a:r>
            <a:br/>
            <a:r>
              <a:t>    X, y, test_size=0.2, random_state=42, stratify=y</a:t>
            </a:r>
            <a:br/>
            <a:r>
              <a:t>)</a:t>
            </a:r>
          </a:p>
        </p:txBody>
      </p:sp>
      <p:sp>
        <p:nvSpPr>
          <p:cNvPr id="201" name="Rounded Rectangle 7"/>
          <p:cNvSpPr/>
          <p:nvPr/>
        </p:nvSpPr>
        <p:spPr>
          <a:xfrm>
            <a:off x="7543800" y="1417319"/>
            <a:ext cx="397763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Rectangle 8"/>
          <p:cNvSpPr/>
          <p:nvPr/>
        </p:nvSpPr>
        <p:spPr>
          <a:xfrm>
            <a:off x="7543799" y="1417319"/>
            <a:ext cx="73154" cy="1143001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9"/>
          <p:cNvSpPr txBox="1"/>
          <p:nvPr/>
        </p:nvSpPr>
        <p:spPr>
          <a:xfrm>
            <a:off x="7763256" y="1572768"/>
            <a:ext cx="355701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204" name="TextBox 10"/>
          <p:cNvSpPr txBox="1"/>
          <p:nvPr/>
        </p:nvSpPr>
        <p:spPr>
          <a:xfrm>
            <a:off x="7763256" y="1956816"/>
            <a:ext cx="3557016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CSV file with one row per customer.</a:t>
            </a:r>
          </a:p>
        </p:txBody>
      </p:sp>
      <p:sp>
        <p:nvSpPr>
          <p:cNvPr id="205" name="Rounded Rectangle 11"/>
          <p:cNvSpPr/>
          <p:nvPr/>
        </p:nvSpPr>
        <p:spPr>
          <a:xfrm>
            <a:off x="7543800" y="2743200"/>
            <a:ext cx="3977639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Rectangle 12"/>
          <p:cNvSpPr/>
          <p:nvPr/>
        </p:nvSpPr>
        <p:spPr>
          <a:xfrm>
            <a:off x="7543799" y="2743200"/>
            <a:ext cx="73154" cy="1143000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3"/>
          <p:cNvSpPr txBox="1"/>
          <p:nvPr/>
        </p:nvSpPr>
        <p:spPr>
          <a:xfrm>
            <a:off x="7763256" y="2898648"/>
            <a:ext cx="355701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Processing</a:t>
            </a:r>
          </a:p>
        </p:txBody>
      </p:sp>
      <p:sp>
        <p:nvSpPr>
          <p:cNvPr id="208" name="TextBox 14"/>
          <p:cNvSpPr txBox="1"/>
          <p:nvPr/>
        </p:nvSpPr>
        <p:spPr>
          <a:xfrm>
            <a:off x="7763256" y="3282696"/>
            <a:ext cx="355701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Separate predictors (X) from churn label (y); encode Yes/No as 1/0.</a:t>
            </a:r>
          </a:p>
        </p:txBody>
      </p:sp>
      <p:sp>
        <p:nvSpPr>
          <p:cNvPr id="209" name="Rounded Rectangle 15"/>
          <p:cNvSpPr/>
          <p:nvPr/>
        </p:nvSpPr>
        <p:spPr>
          <a:xfrm>
            <a:off x="7543800" y="4069079"/>
            <a:ext cx="397763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Rectangle 16"/>
          <p:cNvSpPr/>
          <p:nvPr/>
        </p:nvSpPr>
        <p:spPr>
          <a:xfrm>
            <a:off x="7543799" y="4069079"/>
            <a:ext cx="73154" cy="114300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17"/>
          <p:cNvSpPr txBox="1"/>
          <p:nvPr/>
        </p:nvSpPr>
        <p:spPr>
          <a:xfrm>
            <a:off x="7763256" y="4224528"/>
            <a:ext cx="355701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12" name="TextBox 18"/>
          <p:cNvSpPr txBox="1"/>
          <p:nvPr/>
        </p:nvSpPr>
        <p:spPr>
          <a:xfrm>
            <a:off x="7763256" y="4608576"/>
            <a:ext cx="355701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80% training data and 20% test data, stratified to preserve class balance.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5. Code: Train the Models</a:t>
            </a:r>
          </a:p>
        </p:txBody>
      </p:sp>
      <p:sp>
        <p:nvSpPr>
          <p:cNvPr id="216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Preprocessing and model training are combined into pipelines</a:t>
            </a:r>
          </a:p>
        </p:txBody>
      </p:sp>
      <p:sp>
        <p:nvSpPr>
          <p:cNvPr id="217" name="Rounded Rectangle 5"/>
          <p:cNvSpPr/>
          <p:nvPr/>
        </p:nvSpPr>
        <p:spPr>
          <a:xfrm>
            <a:off x="640080" y="1325880"/>
            <a:ext cx="6720841" cy="4480560"/>
          </a:xfrm>
          <a:prstGeom prst="roundRect">
            <a:avLst>
              <a:gd name="adj" fmla="val 16667"/>
            </a:avLst>
          </a:prstGeom>
          <a:solidFill>
            <a:srgbClr val="182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6"/>
          <p:cNvSpPr txBox="1"/>
          <p:nvPr/>
        </p:nvSpPr>
        <p:spPr>
          <a:xfrm>
            <a:off x="914399" y="1554480"/>
            <a:ext cx="6172202" cy="371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from sklearn.compose import ColumnTransformer</a:t>
            </a:r>
            <a:br/>
            <a:r>
              <a:t>from sklearn.preprocessing import OneHotEncoder, StandardScaler</a:t>
            </a:r>
            <a:br/>
            <a:r>
              <a:t>from sklearn.pipeline import Pipeline</a:t>
            </a:r>
            <a:br/>
            <a:r>
              <a:t>from sklearn.impute import SimpleImputer</a:t>
            </a:r>
            <a:br/>
            <a:r>
              <a:t>from sklearn.linear_model import LogisticRegression</a:t>
            </a:r>
            <a:br/>
            <a:r>
              <a:t>from sklearn.ensemble import RandomForestClassifier</a:t>
            </a:r>
            <a:br/>
            <a:br/>
            <a:r>
              <a:t># Numeric and categorical columns are handled separately.</a:t>
            </a:r>
            <a:br/>
            <a:r>
              <a:t># Build a preprocessing + classifier pipeline for each model.</a:t>
            </a:r>
            <a:br/>
            <a:r>
              <a:t>logistic = Pipeline([... , ("model", LogisticRegression(max_iter=1000))])</a:t>
            </a:r>
            <a:br/>
            <a:r>
              <a:t>forest = Pipeline([... , ("model", RandomForestClassifier(</a:t>
            </a:r>
            <a:br/>
            <a:r>
              <a:t>    n_estimators=200, random_state=42, class_weight="balanced"</a:t>
            </a:r>
            <a:br/>
            <a:r>
              <a:t>))])</a:t>
            </a:r>
            <a:br/>
            <a:br/>
            <a:r>
              <a:t>logistic.fit(X_train, y_train)</a:t>
            </a:r>
            <a:br/>
            <a:r>
              <a:t>forest.fit(X_train, y_train)</a:t>
            </a:r>
          </a:p>
        </p:txBody>
      </p:sp>
      <p:sp>
        <p:nvSpPr>
          <p:cNvPr id="219" name="Rounded Rectangle 7"/>
          <p:cNvSpPr/>
          <p:nvPr/>
        </p:nvSpPr>
        <p:spPr>
          <a:xfrm>
            <a:off x="7635240" y="1417319"/>
            <a:ext cx="388620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Rectangle 8"/>
          <p:cNvSpPr/>
          <p:nvPr/>
        </p:nvSpPr>
        <p:spPr>
          <a:xfrm>
            <a:off x="7635240" y="1417319"/>
            <a:ext cx="73153" cy="1234442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9"/>
          <p:cNvSpPr txBox="1"/>
          <p:nvPr/>
        </p:nvSpPr>
        <p:spPr>
          <a:xfrm>
            <a:off x="7854695" y="1572768"/>
            <a:ext cx="34655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Logistic Regression</a:t>
            </a:r>
          </a:p>
        </p:txBody>
      </p:sp>
      <p:sp>
        <p:nvSpPr>
          <p:cNvPr id="222" name="TextBox 10"/>
          <p:cNvSpPr txBox="1"/>
          <p:nvPr/>
        </p:nvSpPr>
        <p:spPr>
          <a:xfrm>
            <a:off x="7854695" y="1956815"/>
            <a:ext cx="346557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baseline classifier; coefficients can help explain direction of effects.</a:t>
            </a:r>
          </a:p>
        </p:txBody>
      </p:sp>
      <p:sp>
        <p:nvSpPr>
          <p:cNvPr id="223" name="Rounded Rectangle 11"/>
          <p:cNvSpPr/>
          <p:nvPr/>
        </p:nvSpPr>
        <p:spPr>
          <a:xfrm>
            <a:off x="7635240" y="2834639"/>
            <a:ext cx="388620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12"/>
          <p:cNvSpPr/>
          <p:nvPr/>
        </p:nvSpPr>
        <p:spPr>
          <a:xfrm>
            <a:off x="7635240" y="2834639"/>
            <a:ext cx="73153" cy="1234441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13"/>
          <p:cNvSpPr txBox="1"/>
          <p:nvPr/>
        </p:nvSpPr>
        <p:spPr>
          <a:xfrm>
            <a:off x="7854695" y="2990088"/>
            <a:ext cx="34655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226" name="TextBox 14"/>
          <p:cNvSpPr txBox="1"/>
          <p:nvPr/>
        </p:nvSpPr>
        <p:spPr>
          <a:xfrm>
            <a:off x="7854695" y="3374135"/>
            <a:ext cx="346557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Combines many decision trees to model non-linear relationships.</a:t>
            </a:r>
          </a:p>
        </p:txBody>
      </p:sp>
      <p:sp>
        <p:nvSpPr>
          <p:cNvPr id="227" name="Rounded Rectangle 15"/>
          <p:cNvSpPr/>
          <p:nvPr/>
        </p:nvSpPr>
        <p:spPr>
          <a:xfrm>
            <a:off x="7635240" y="4251959"/>
            <a:ext cx="388620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Rectangle 16"/>
          <p:cNvSpPr/>
          <p:nvPr/>
        </p:nvSpPr>
        <p:spPr>
          <a:xfrm>
            <a:off x="7635240" y="4251959"/>
            <a:ext cx="73153" cy="123444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17"/>
          <p:cNvSpPr txBox="1"/>
          <p:nvPr/>
        </p:nvSpPr>
        <p:spPr>
          <a:xfrm>
            <a:off x="7854695" y="4407408"/>
            <a:ext cx="34655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30" name="TextBox 18"/>
          <p:cNvSpPr txBox="1"/>
          <p:nvPr/>
        </p:nvSpPr>
        <p:spPr>
          <a:xfrm>
            <a:off x="7854695" y="4791455"/>
            <a:ext cx="346557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Two fitted pipelines ready to predict churn on unseen test rows.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6. Evaluation &amp; Output</a:t>
            </a:r>
          </a:p>
        </p:txBody>
      </p:sp>
      <p:sp>
        <p:nvSpPr>
          <p:cNvPr id="234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Measure performance on held-out test data</a:t>
            </a:r>
          </a:p>
        </p:txBody>
      </p:sp>
      <p:sp>
        <p:nvSpPr>
          <p:cNvPr id="235" name="Rounded Rectangle 5"/>
          <p:cNvSpPr/>
          <p:nvPr/>
        </p:nvSpPr>
        <p:spPr>
          <a:xfrm>
            <a:off x="640080" y="1371600"/>
            <a:ext cx="3429001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Rectangle 6"/>
          <p:cNvSpPr/>
          <p:nvPr/>
        </p:nvSpPr>
        <p:spPr>
          <a:xfrm>
            <a:off x="640080" y="1371599"/>
            <a:ext cx="73153" cy="1280162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7"/>
          <p:cNvSpPr txBox="1"/>
          <p:nvPr/>
        </p:nvSpPr>
        <p:spPr>
          <a:xfrm>
            <a:off x="859534" y="1527047"/>
            <a:ext cx="300837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238" name="TextBox 8"/>
          <p:cNvSpPr txBox="1"/>
          <p:nvPr/>
        </p:nvSpPr>
        <p:spPr>
          <a:xfrm>
            <a:off x="859534" y="1911095"/>
            <a:ext cx="3008378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Overall fraction of correct predictions.</a:t>
            </a:r>
          </a:p>
        </p:txBody>
      </p:sp>
      <p:sp>
        <p:nvSpPr>
          <p:cNvPr id="239" name="Rounded Rectangle 9"/>
          <p:cNvSpPr/>
          <p:nvPr/>
        </p:nvSpPr>
        <p:spPr>
          <a:xfrm>
            <a:off x="4434840" y="1371600"/>
            <a:ext cx="3429001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Rectangle 10"/>
          <p:cNvSpPr/>
          <p:nvPr/>
        </p:nvSpPr>
        <p:spPr>
          <a:xfrm>
            <a:off x="4434840" y="1371599"/>
            <a:ext cx="73153" cy="1280162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11"/>
          <p:cNvSpPr txBox="1"/>
          <p:nvPr/>
        </p:nvSpPr>
        <p:spPr>
          <a:xfrm>
            <a:off x="4654296" y="1527047"/>
            <a:ext cx="30083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242" name="TextBox 12"/>
          <p:cNvSpPr txBox="1"/>
          <p:nvPr/>
        </p:nvSpPr>
        <p:spPr>
          <a:xfrm>
            <a:off x="4654296" y="1911095"/>
            <a:ext cx="300837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Of predicted churners, how many actually churned?</a:t>
            </a:r>
          </a:p>
        </p:txBody>
      </p:sp>
      <p:sp>
        <p:nvSpPr>
          <p:cNvPr id="243" name="Rounded Rectangle 13"/>
          <p:cNvSpPr/>
          <p:nvPr/>
        </p:nvSpPr>
        <p:spPr>
          <a:xfrm>
            <a:off x="8229600" y="1371600"/>
            <a:ext cx="3429000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14"/>
          <p:cNvSpPr/>
          <p:nvPr/>
        </p:nvSpPr>
        <p:spPr>
          <a:xfrm>
            <a:off x="8229599" y="1371599"/>
            <a:ext cx="73154" cy="1280162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15"/>
          <p:cNvSpPr txBox="1"/>
          <p:nvPr/>
        </p:nvSpPr>
        <p:spPr>
          <a:xfrm>
            <a:off x="8449056" y="1527047"/>
            <a:ext cx="30083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246" name="TextBox 16"/>
          <p:cNvSpPr txBox="1"/>
          <p:nvPr/>
        </p:nvSpPr>
        <p:spPr>
          <a:xfrm>
            <a:off x="8449056" y="1911095"/>
            <a:ext cx="300837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Of actual churners, how many were detected?</a:t>
            </a:r>
          </a:p>
        </p:txBody>
      </p:sp>
      <p:sp>
        <p:nvSpPr>
          <p:cNvPr id="247" name="Rounded Rectangle 17"/>
          <p:cNvSpPr/>
          <p:nvPr/>
        </p:nvSpPr>
        <p:spPr>
          <a:xfrm>
            <a:off x="640080" y="2971800"/>
            <a:ext cx="3429001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Rectangle 18"/>
          <p:cNvSpPr/>
          <p:nvPr/>
        </p:nvSpPr>
        <p:spPr>
          <a:xfrm>
            <a:off x="640080" y="2971799"/>
            <a:ext cx="73153" cy="1280162"/>
          </a:xfrm>
          <a:prstGeom prst="rect">
            <a:avLst/>
          </a:prstGeom>
          <a:solidFill>
            <a:srgbClr val="BF4B4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9"/>
          <p:cNvSpPr txBox="1"/>
          <p:nvPr/>
        </p:nvSpPr>
        <p:spPr>
          <a:xfrm>
            <a:off x="859534" y="3127248"/>
            <a:ext cx="300837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F1-score</a:t>
            </a:r>
          </a:p>
        </p:txBody>
      </p:sp>
      <p:sp>
        <p:nvSpPr>
          <p:cNvPr id="250" name="TextBox 20"/>
          <p:cNvSpPr txBox="1"/>
          <p:nvPr/>
        </p:nvSpPr>
        <p:spPr>
          <a:xfrm>
            <a:off x="859534" y="3511296"/>
            <a:ext cx="3008378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Balance between precision and recall.</a:t>
            </a:r>
          </a:p>
        </p:txBody>
      </p:sp>
      <p:sp>
        <p:nvSpPr>
          <p:cNvPr id="251" name="Rounded Rectangle 21"/>
          <p:cNvSpPr/>
          <p:nvPr/>
        </p:nvSpPr>
        <p:spPr>
          <a:xfrm>
            <a:off x="4434840" y="2971800"/>
            <a:ext cx="3429001" cy="12801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Rectangle 22"/>
          <p:cNvSpPr/>
          <p:nvPr/>
        </p:nvSpPr>
        <p:spPr>
          <a:xfrm>
            <a:off x="4434840" y="2971799"/>
            <a:ext cx="73153" cy="1280162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23"/>
          <p:cNvSpPr txBox="1"/>
          <p:nvPr/>
        </p:nvSpPr>
        <p:spPr>
          <a:xfrm>
            <a:off x="4654296" y="3127248"/>
            <a:ext cx="300837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ROC-AUC</a:t>
            </a:r>
          </a:p>
        </p:txBody>
      </p:sp>
      <p:sp>
        <p:nvSpPr>
          <p:cNvPr id="254" name="TextBox 24"/>
          <p:cNvSpPr txBox="1"/>
          <p:nvPr/>
        </p:nvSpPr>
        <p:spPr>
          <a:xfrm>
            <a:off x="4654296" y="3511296"/>
            <a:ext cx="300837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well the model ranks churn risk across thresholds.</a:t>
            </a:r>
          </a:p>
        </p:txBody>
      </p:sp>
      <p:sp>
        <p:nvSpPr>
          <p:cNvPr id="255" name="Rounded Rectangle 25"/>
          <p:cNvSpPr/>
          <p:nvPr/>
        </p:nvSpPr>
        <p:spPr>
          <a:xfrm>
            <a:off x="8229600" y="4572000"/>
            <a:ext cx="3337560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26"/>
          <p:cNvSpPr/>
          <p:nvPr/>
        </p:nvSpPr>
        <p:spPr>
          <a:xfrm>
            <a:off x="8229599" y="4571999"/>
            <a:ext cx="73154" cy="1051562"/>
          </a:xfrm>
          <a:prstGeom prst="rect">
            <a:avLst/>
          </a:prstGeom>
          <a:solidFill>
            <a:srgbClr val="BF4B4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7"/>
          <p:cNvSpPr txBox="1"/>
          <p:nvPr/>
        </p:nvSpPr>
        <p:spPr>
          <a:xfrm>
            <a:off x="8449056" y="4727447"/>
            <a:ext cx="29169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Important</a:t>
            </a:r>
          </a:p>
        </p:txBody>
      </p:sp>
      <p:sp>
        <p:nvSpPr>
          <p:cNvPr id="258" name="TextBox 28"/>
          <p:cNvSpPr txBox="1"/>
          <p:nvPr/>
        </p:nvSpPr>
        <p:spPr>
          <a:xfrm>
            <a:off x="8449056" y="5034248"/>
            <a:ext cx="2916937" cy="569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the metric values produced by your actual run. Do not invent or copy sample scores.</a:t>
            </a:r>
          </a:p>
        </p:txBody>
      </p:sp>
      <p:sp>
        <p:nvSpPr>
          <p:cNvPr id="259" name="TextBox 29"/>
          <p:cNvSpPr txBox="1"/>
          <p:nvPr/>
        </p:nvSpPr>
        <p:spPr>
          <a:xfrm>
            <a:off x="795527" y="4809743"/>
            <a:ext cx="6912866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Confusion matrix: True Positive + True Negative = correct predictions; False Positive + False Negative = errors.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7. Dashboard &amp; Customer Risk Prediction</a:t>
            </a:r>
          </a:p>
        </p:txBody>
      </p:sp>
      <p:sp>
        <p:nvSpPr>
          <p:cNvPr id="263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interactive Streamlit app turns model results into a user-friendly view</a:t>
            </a:r>
          </a:p>
        </p:txBody>
      </p:sp>
      <p:sp>
        <p:nvSpPr>
          <p:cNvPr id="264" name="Rounded Rectangle 5"/>
          <p:cNvSpPr/>
          <p:nvPr/>
        </p:nvSpPr>
        <p:spPr>
          <a:xfrm>
            <a:off x="640080" y="1234439"/>
            <a:ext cx="6675120" cy="4526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1E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6"/>
          <p:cNvSpPr txBox="1"/>
          <p:nvPr/>
        </p:nvSpPr>
        <p:spPr>
          <a:xfrm>
            <a:off x="932687" y="1426463"/>
            <a:ext cx="599846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5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CHURN DASHBOARD (illustration)</a:t>
            </a:r>
          </a:p>
        </p:txBody>
      </p:sp>
      <p:sp>
        <p:nvSpPr>
          <p:cNvPr id="266" name="Rounded Rectangle 7"/>
          <p:cNvSpPr/>
          <p:nvPr/>
        </p:nvSpPr>
        <p:spPr>
          <a:xfrm>
            <a:off x="914400" y="1828800"/>
            <a:ext cx="1737361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Rectangle 8"/>
          <p:cNvSpPr/>
          <p:nvPr/>
        </p:nvSpPr>
        <p:spPr>
          <a:xfrm>
            <a:off x="914399" y="1828800"/>
            <a:ext cx="73154" cy="960120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9"/>
          <p:cNvSpPr txBox="1"/>
          <p:nvPr/>
        </p:nvSpPr>
        <p:spPr>
          <a:xfrm>
            <a:off x="1133855" y="1984248"/>
            <a:ext cx="131673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Customers</a:t>
            </a:r>
          </a:p>
        </p:txBody>
      </p:sp>
      <p:sp>
        <p:nvSpPr>
          <p:cNvPr id="269" name="TextBox 10"/>
          <p:cNvSpPr txBox="1"/>
          <p:nvPr/>
        </p:nvSpPr>
        <p:spPr>
          <a:xfrm>
            <a:off x="1133855" y="2368295"/>
            <a:ext cx="1316737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5,000</a:t>
            </a:r>
          </a:p>
        </p:txBody>
      </p:sp>
      <p:sp>
        <p:nvSpPr>
          <p:cNvPr id="270" name="Rounded Rectangle 11"/>
          <p:cNvSpPr/>
          <p:nvPr/>
        </p:nvSpPr>
        <p:spPr>
          <a:xfrm>
            <a:off x="2880360" y="1828800"/>
            <a:ext cx="1737361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Rectangle 12"/>
          <p:cNvSpPr/>
          <p:nvPr/>
        </p:nvSpPr>
        <p:spPr>
          <a:xfrm>
            <a:off x="2880360" y="1828800"/>
            <a:ext cx="73153" cy="960120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13"/>
          <p:cNvSpPr txBox="1"/>
          <p:nvPr/>
        </p:nvSpPr>
        <p:spPr>
          <a:xfrm>
            <a:off x="3099815" y="1984248"/>
            <a:ext cx="131673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Churn share</a:t>
            </a:r>
          </a:p>
        </p:txBody>
      </p:sp>
      <p:sp>
        <p:nvSpPr>
          <p:cNvPr id="273" name="TextBox 14"/>
          <p:cNvSpPr txBox="1"/>
          <p:nvPr/>
        </p:nvSpPr>
        <p:spPr>
          <a:xfrm>
            <a:off x="3099815" y="2368295"/>
            <a:ext cx="13167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~26%</a:t>
            </a:r>
          </a:p>
        </p:txBody>
      </p:sp>
      <p:sp>
        <p:nvSpPr>
          <p:cNvPr id="274" name="Rounded Rectangle 15"/>
          <p:cNvSpPr/>
          <p:nvPr/>
        </p:nvSpPr>
        <p:spPr>
          <a:xfrm>
            <a:off x="4846320" y="1828800"/>
            <a:ext cx="1737361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Rectangle 16"/>
          <p:cNvSpPr/>
          <p:nvPr/>
        </p:nvSpPr>
        <p:spPr>
          <a:xfrm>
            <a:off x="4846320" y="1828800"/>
            <a:ext cx="73153" cy="960120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17"/>
          <p:cNvSpPr txBox="1"/>
          <p:nvPr/>
        </p:nvSpPr>
        <p:spPr>
          <a:xfrm>
            <a:off x="5065775" y="1984248"/>
            <a:ext cx="1316738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Models</a:t>
            </a:r>
          </a:p>
        </p:txBody>
      </p:sp>
      <p:sp>
        <p:nvSpPr>
          <p:cNvPr id="277" name="TextBox 18"/>
          <p:cNvSpPr txBox="1"/>
          <p:nvPr/>
        </p:nvSpPr>
        <p:spPr>
          <a:xfrm>
            <a:off x="5065775" y="2368295"/>
            <a:ext cx="13167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78" name="TextBox 19"/>
          <p:cNvSpPr txBox="1"/>
          <p:nvPr/>
        </p:nvSpPr>
        <p:spPr>
          <a:xfrm>
            <a:off x="978407" y="3072383"/>
            <a:ext cx="5266946" cy="239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3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Example churn-risk estimate</a:t>
            </a:r>
          </a:p>
        </p:txBody>
      </p:sp>
      <p:sp>
        <p:nvSpPr>
          <p:cNvPr id="279" name="TextBox 20"/>
          <p:cNvSpPr txBox="1"/>
          <p:nvPr/>
        </p:nvSpPr>
        <p:spPr>
          <a:xfrm>
            <a:off x="978407" y="3529584"/>
            <a:ext cx="877825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280" name="Rectangle 21"/>
          <p:cNvSpPr/>
          <p:nvPr/>
        </p:nvSpPr>
        <p:spPr>
          <a:xfrm>
            <a:off x="1828800" y="3538728"/>
            <a:ext cx="1005839" cy="164593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2"/>
          <p:cNvSpPr txBox="1"/>
          <p:nvPr/>
        </p:nvSpPr>
        <p:spPr>
          <a:xfrm>
            <a:off x="978407" y="4032503"/>
            <a:ext cx="877825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282" name="Rectangle 23"/>
          <p:cNvSpPr/>
          <p:nvPr/>
        </p:nvSpPr>
        <p:spPr>
          <a:xfrm>
            <a:off x="1828800" y="4041647"/>
            <a:ext cx="2011679" cy="164593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24"/>
          <p:cNvSpPr txBox="1"/>
          <p:nvPr/>
        </p:nvSpPr>
        <p:spPr>
          <a:xfrm>
            <a:off x="978407" y="4535423"/>
            <a:ext cx="877825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284" name="Rectangle 25"/>
          <p:cNvSpPr/>
          <p:nvPr/>
        </p:nvSpPr>
        <p:spPr>
          <a:xfrm>
            <a:off x="1828799" y="4544567"/>
            <a:ext cx="3138222" cy="164593"/>
          </a:xfrm>
          <a:prstGeom prst="rect">
            <a:avLst/>
          </a:prstGeom>
          <a:solidFill>
            <a:srgbClr val="BF4B4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Rounded Rectangle 26"/>
          <p:cNvSpPr/>
          <p:nvPr/>
        </p:nvSpPr>
        <p:spPr>
          <a:xfrm>
            <a:off x="7635240" y="1417319"/>
            <a:ext cx="38404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Rectangle 27"/>
          <p:cNvSpPr/>
          <p:nvPr/>
        </p:nvSpPr>
        <p:spPr>
          <a:xfrm>
            <a:off x="7635240" y="1417319"/>
            <a:ext cx="73153" cy="1234442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28"/>
          <p:cNvSpPr txBox="1"/>
          <p:nvPr/>
        </p:nvSpPr>
        <p:spPr>
          <a:xfrm>
            <a:off x="7854695" y="1572768"/>
            <a:ext cx="341985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 inputs</a:t>
            </a:r>
          </a:p>
        </p:txBody>
      </p:sp>
      <p:sp>
        <p:nvSpPr>
          <p:cNvPr id="288" name="TextBox 29"/>
          <p:cNvSpPr txBox="1"/>
          <p:nvPr/>
        </p:nvSpPr>
        <p:spPr>
          <a:xfrm>
            <a:off x="7854695" y="1956815"/>
            <a:ext cx="341985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Select customer attributes such as tenure, contract and monthly charges.</a:t>
            </a:r>
          </a:p>
        </p:txBody>
      </p:sp>
      <p:sp>
        <p:nvSpPr>
          <p:cNvPr id="289" name="Rounded Rectangle 30"/>
          <p:cNvSpPr/>
          <p:nvPr/>
        </p:nvSpPr>
        <p:spPr>
          <a:xfrm>
            <a:off x="7635240" y="2834639"/>
            <a:ext cx="38404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Rectangle 31"/>
          <p:cNvSpPr/>
          <p:nvPr/>
        </p:nvSpPr>
        <p:spPr>
          <a:xfrm>
            <a:off x="7635240" y="2834639"/>
            <a:ext cx="73153" cy="1234441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32"/>
          <p:cNvSpPr txBox="1"/>
          <p:nvPr/>
        </p:nvSpPr>
        <p:spPr>
          <a:xfrm>
            <a:off x="7854695" y="2990088"/>
            <a:ext cx="341985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Model output</a:t>
            </a:r>
          </a:p>
        </p:txBody>
      </p:sp>
      <p:sp>
        <p:nvSpPr>
          <p:cNvPr id="292" name="TextBox 33"/>
          <p:cNvSpPr txBox="1"/>
          <p:nvPr/>
        </p:nvSpPr>
        <p:spPr>
          <a:xfrm>
            <a:off x="7854695" y="3374135"/>
            <a:ext cx="341985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trained pipeline returns a churn probability and a predicted class.</a:t>
            </a:r>
          </a:p>
        </p:txBody>
      </p:sp>
      <p:sp>
        <p:nvSpPr>
          <p:cNvPr id="293" name="Rounded Rectangle 34"/>
          <p:cNvSpPr/>
          <p:nvPr/>
        </p:nvSpPr>
        <p:spPr>
          <a:xfrm>
            <a:off x="7635240" y="4251959"/>
            <a:ext cx="38404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Rectangle 35"/>
          <p:cNvSpPr/>
          <p:nvPr/>
        </p:nvSpPr>
        <p:spPr>
          <a:xfrm>
            <a:off x="7635240" y="4251959"/>
            <a:ext cx="73153" cy="123444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36"/>
          <p:cNvSpPr txBox="1"/>
          <p:nvPr/>
        </p:nvSpPr>
        <p:spPr>
          <a:xfrm>
            <a:off x="7854695" y="4407408"/>
            <a:ext cx="341985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to show it</a:t>
            </a:r>
          </a:p>
        </p:txBody>
      </p:sp>
      <p:sp>
        <p:nvSpPr>
          <p:cNvPr id="296" name="TextBox 37"/>
          <p:cNvSpPr txBox="1"/>
          <p:nvPr/>
        </p:nvSpPr>
        <p:spPr>
          <a:xfrm>
            <a:off x="7854695" y="4791455"/>
            <a:ext cx="3419857" cy="646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Run `streamlit run app.py`; take a screenshot of the live dashboard for your final submission.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8. Run the Project &amp; Upload to GitHub</a:t>
            </a:r>
          </a:p>
        </p:txBody>
      </p:sp>
      <p:sp>
        <p:nvSpPr>
          <p:cNvPr id="300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Commands for a local demonstration and repository submission</a:t>
            </a:r>
          </a:p>
        </p:txBody>
      </p:sp>
      <p:sp>
        <p:nvSpPr>
          <p:cNvPr id="301" name="Rounded Rectangle 5"/>
          <p:cNvSpPr/>
          <p:nvPr/>
        </p:nvSpPr>
        <p:spPr>
          <a:xfrm>
            <a:off x="640080" y="1325880"/>
            <a:ext cx="6675120" cy="4526280"/>
          </a:xfrm>
          <a:prstGeom prst="roundRect">
            <a:avLst>
              <a:gd name="adj" fmla="val 16667"/>
            </a:avLst>
          </a:prstGeom>
          <a:solidFill>
            <a:srgbClr val="182A4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6"/>
          <p:cNvSpPr txBox="1"/>
          <p:nvPr/>
        </p:nvSpPr>
        <p:spPr>
          <a:xfrm>
            <a:off x="914399" y="1600199"/>
            <a:ext cx="6126482" cy="260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python3 -m venv .venv</a:t>
            </a:r>
            <a:br/>
            <a:r>
              <a:t>source .venv/bin/activate</a:t>
            </a:r>
            <a:br/>
            <a:r>
              <a:t>pip install -r requirements.txt</a:t>
            </a:r>
            <a:br/>
            <a:r>
              <a:t>streamlit run app.py</a:t>
            </a:r>
            <a:br/>
            <a:br/>
            <a:r>
              <a:t>git init</a:t>
            </a:r>
            <a:br/>
            <a:r>
              <a:t>git add .</a:t>
            </a:r>
            <a:br/>
            <a:r>
              <a:t>git commit -m "Customer churn prediction project"</a:t>
            </a:r>
            <a:br/>
            <a:r>
              <a:t>git branch -M main</a:t>
            </a:r>
            <a:br/>
            <a:r>
              <a:t>git remote add origin YOUR_REPOSITORY_URL</a:t>
            </a:r>
            <a:br/>
            <a:r>
              <a:t>git push -u origin main</a:t>
            </a:r>
          </a:p>
        </p:txBody>
      </p:sp>
      <p:sp>
        <p:nvSpPr>
          <p:cNvPr id="303" name="Rounded Rectangle 7"/>
          <p:cNvSpPr/>
          <p:nvPr/>
        </p:nvSpPr>
        <p:spPr>
          <a:xfrm>
            <a:off x="7635240" y="1417319"/>
            <a:ext cx="38404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Rectangle 8"/>
          <p:cNvSpPr/>
          <p:nvPr/>
        </p:nvSpPr>
        <p:spPr>
          <a:xfrm>
            <a:off x="7635240" y="1417319"/>
            <a:ext cx="73153" cy="1234442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9"/>
          <p:cNvSpPr txBox="1"/>
          <p:nvPr/>
        </p:nvSpPr>
        <p:spPr>
          <a:xfrm>
            <a:off x="7854695" y="1572768"/>
            <a:ext cx="341985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Before upload</a:t>
            </a:r>
          </a:p>
        </p:txBody>
      </p:sp>
      <p:sp>
        <p:nvSpPr>
          <p:cNvPr id="306" name="TextBox 10"/>
          <p:cNvSpPr txBox="1"/>
          <p:nvPr/>
        </p:nvSpPr>
        <p:spPr>
          <a:xfrm>
            <a:off x="7854695" y="1956815"/>
            <a:ext cx="341985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Confirm the app runs; keep `.venv` and secrets out of Git.</a:t>
            </a:r>
          </a:p>
        </p:txBody>
      </p:sp>
      <p:sp>
        <p:nvSpPr>
          <p:cNvPr id="307" name="Rounded Rectangle 11"/>
          <p:cNvSpPr/>
          <p:nvPr/>
        </p:nvSpPr>
        <p:spPr>
          <a:xfrm>
            <a:off x="7635240" y="2834639"/>
            <a:ext cx="38404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Rectangle 12"/>
          <p:cNvSpPr/>
          <p:nvPr/>
        </p:nvSpPr>
        <p:spPr>
          <a:xfrm>
            <a:off x="7635240" y="2834639"/>
            <a:ext cx="73153" cy="1234441"/>
          </a:xfrm>
          <a:prstGeom prst="rect">
            <a:avLst/>
          </a:prstGeom>
          <a:solidFill>
            <a:srgbClr val="2B68A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13"/>
          <p:cNvSpPr txBox="1"/>
          <p:nvPr/>
        </p:nvSpPr>
        <p:spPr>
          <a:xfrm>
            <a:off x="7854695" y="2990088"/>
            <a:ext cx="341985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 URL</a:t>
            </a:r>
          </a:p>
        </p:txBody>
      </p:sp>
      <p:sp>
        <p:nvSpPr>
          <p:cNvPr id="310" name="TextBox 14"/>
          <p:cNvSpPr txBox="1"/>
          <p:nvPr/>
        </p:nvSpPr>
        <p:spPr>
          <a:xfrm>
            <a:off x="7854695" y="3374135"/>
            <a:ext cx="341985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Replace `YOUR_REPOSITORY_URL` with your GitHub repo URL.</a:t>
            </a:r>
          </a:p>
        </p:txBody>
      </p:sp>
      <p:sp>
        <p:nvSpPr>
          <p:cNvPr id="311" name="Rounded Rectangle 15"/>
          <p:cNvSpPr/>
          <p:nvPr/>
        </p:nvSpPr>
        <p:spPr>
          <a:xfrm>
            <a:off x="7635240" y="4251959"/>
            <a:ext cx="384048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Rectangle 16"/>
          <p:cNvSpPr/>
          <p:nvPr/>
        </p:nvSpPr>
        <p:spPr>
          <a:xfrm>
            <a:off x="7635240" y="4251959"/>
            <a:ext cx="73153" cy="123444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17"/>
          <p:cNvSpPr txBox="1"/>
          <p:nvPr/>
        </p:nvSpPr>
        <p:spPr>
          <a:xfrm>
            <a:off x="7854695" y="4407408"/>
            <a:ext cx="3419857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Deliverables</a:t>
            </a:r>
          </a:p>
        </p:txBody>
      </p:sp>
      <p:sp>
        <p:nvSpPr>
          <p:cNvPr id="314" name="TextBox 18"/>
          <p:cNvSpPr txBox="1"/>
          <p:nvPr/>
        </p:nvSpPr>
        <p:spPr>
          <a:xfrm>
            <a:off x="7854695" y="4791455"/>
            <a:ext cx="3419857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3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Source code, CSV, requirements, README, screenshots and report.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9F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2"/>
          <p:cNvSpPr txBox="1"/>
          <p:nvPr/>
        </p:nvSpPr>
        <p:spPr>
          <a:xfrm>
            <a:off x="521207" y="301752"/>
            <a:ext cx="11027666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7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9. Conclusion &amp; References</a:t>
            </a:r>
          </a:p>
        </p:txBody>
      </p:sp>
      <p:sp>
        <p:nvSpPr>
          <p:cNvPr id="318" name="TextBox 3"/>
          <p:cNvSpPr txBox="1"/>
          <p:nvPr/>
        </p:nvSpPr>
        <p:spPr>
          <a:xfrm>
            <a:off x="548639" y="804671"/>
            <a:ext cx="10936225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5B697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Key takeaway and resources</a:t>
            </a:r>
          </a:p>
        </p:txBody>
      </p:sp>
      <p:sp>
        <p:nvSpPr>
          <p:cNvPr id="319" name="Rounded Rectangle 5"/>
          <p:cNvSpPr/>
          <p:nvPr/>
        </p:nvSpPr>
        <p:spPr>
          <a:xfrm>
            <a:off x="640080" y="1325880"/>
            <a:ext cx="53035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Rectangle 6"/>
          <p:cNvSpPr/>
          <p:nvPr/>
        </p:nvSpPr>
        <p:spPr>
          <a:xfrm>
            <a:off x="640080" y="1325880"/>
            <a:ext cx="73153" cy="1828801"/>
          </a:xfrm>
          <a:prstGeom prst="rect">
            <a:avLst/>
          </a:prstGeom>
          <a:solidFill>
            <a:srgbClr val="268B8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7"/>
          <p:cNvSpPr txBox="1"/>
          <p:nvPr/>
        </p:nvSpPr>
        <p:spPr>
          <a:xfrm>
            <a:off x="859535" y="1481327"/>
            <a:ext cx="488289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22" name="TextBox 8"/>
          <p:cNvSpPr txBox="1"/>
          <p:nvPr/>
        </p:nvSpPr>
        <p:spPr>
          <a:xfrm>
            <a:off x="859535" y="1865375"/>
            <a:ext cx="4882896" cy="1116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project demonstrates a complete churn-prediction workflow: explore customer data, prepare features, train two classifiers, evaluate them on test data, and present risk estimates in a dashboard. Businesses should use predictions to support—not replace—human judgement.</a:t>
            </a:r>
          </a:p>
        </p:txBody>
      </p:sp>
      <p:sp>
        <p:nvSpPr>
          <p:cNvPr id="323" name="Rounded Rectangle 9"/>
          <p:cNvSpPr/>
          <p:nvPr/>
        </p:nvSpPr>
        <p:spPr>
          <a:xfrm>
            <a:off x="6217920" y="1325880"/>
            <a:ext cx="53035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1E8E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Rectangle 10"/>
          <p:cNvSpPr/>
          <p:nvPr/>
        </p:nvSpPr>
        <p:spPr>
          <a:xfrm>
            <a:off x="6217920" y="1325880"/>
            <a:ext cx="73153" cy="1828801"/>
          </a:xfrm>
          <a:prstGeom prst="rect">
            <a:avLst/>
          </a:prstGeom>
          <a:solidFill>
            <a:srgbClr val="E6AA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11"/>
          <p:cNvSpPr txBox="1"/>
          <p:nvPr/>
        </p:nvSpPr>
        <p:spPr>
          <a:xfrm>
            <a:off x="6437376" y="1481327"/>
            <a:ext cx="4882896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600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26" name="TextBox 12"/>
          <p:cNvSpPr txBox="1"/>
          <p:nvPr/>
        </p:nvSpPr>
        <p:spPr>
          <a:xfrm>
            <a:off x="6437376" y="1865375"/>
            <a:ext cx="4882896" cy="684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4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included CSV is synthetic demo data. Results do not represent real telecom customers. Validate with an authorised real dataset before making business decisions.</a:t>
            </a:r>
          </a:p>
        </p:txBody>
      </p:sp>
      <p:sp>
        <p:nvSpPr>
          <p:cNvPr id="327" name="TextBox 13"/>
          <p:cNvSpPr txBox="1"/>
          <p:nvPr/>
        </p:nvSpPr>
        <p:spPr>
          <a:xfrm>
            <a:off x="795527" y="3575303"/>
            <a:ext cx="10753346" cy="315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>
                <a:solidFill>
                  <a:srgbClr val="18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28" name="TextBox 14"/>
          <p:cNvSpPr txBox="1"/>
          <p:nvPr/>
        </p:nvSpPr>
        <p:spPr>
          <a:xfrm>
            <a:off x="932687" y="3986782"/>
            <a:ext cx="10296146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Scikit-learn documentation — model selection, pipelines and classification metrics: scikit-learn.org</a:t>
            </a:r>
          </a:p>
        </p:txBody>
      </p:sp>
      <p:sp>
        <p:nvSpPr>
          <p:cNvPr id="329" name="TextBox 15"/>
          <p:cNvSpPr txBox="1"/>
          <p:nvPr/>
        </p:nvSpPr>
        <p:spPr>
          <a:xfrm>
            <a:off x="932687" y="4370832"/>
            <a:ext cx="10296146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Streamlit documentation — building Python data apps: docs.streamlit.io</a:t>
            </a:r>
          </a:p>
        </p:txBody>
      </p:sp>
      <p:sp>
        <p:nvSpPr>
          <p:cNvPr id="330" name="TextBox 16"/>
          <p:cNvSpPr txBox="1"/>
          <p:nvPr/>
        </p:nvSpPr>
        <p:spPr>
          <a:xfrm>
            <a:off x="932687" y="4754879"/>
            <a:ext cx="10296146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Pandas documentation — CSV loading and data handling: pandas.pydata.org</a:t>
            </a:r>
          </a:p>
        </p:txBody>
      </p:sp>
      <p:sp>
        <p:nvSpPr>
          <p:cNvPr id="331" name="TextBox 17"/>
          <p:cNvSpPr txBox="1"/>
          <p:nvPr/>
        </p:nvSpPr>
        <p:spPr>
          <a:xfrm>
            <a:off x="932687" y="5138927"/>
            <a:ext cx="10296146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GitHub Docs — uploading a project to a repository: docs.github.com</a:t>
            </a:r>
          </a:p>
        </p:txBody>
      </p:sp>
      <p:sp>
        <p:nvSpPr>
          <p:cNvPr id="332" name="TextBox 18"/>
          <p:cNvSpPr txBox="1"/>
          <p:nvPr/>
        </p:nvSpPr>
        <p:spPr>
          <a:xfrm>
            <a:off x="932687" y="5522974"/>
            <a:ext cx="10296146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200">
                <a:solidFill>
                  <a:srgbClr val="2730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Project source and demonstration dataset: customer_churn_project (README.md)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
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tif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9F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-212852"/>
            <a:ext cx="12191697" cy="212853"/>
          </a:xfrm>
          <a:prstGeom prst="rect">
            <a:avLst/>
          </a:prstGeom>
          <a:solidFill>
            <a:srgbClr val="246F5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TextBox 14"/>
          <p:cNvSpPr txBox="1"/>
          <p:nvPr/>
        </p:nvSpPr>
        <p:spPr>
          <a:xfrm>
            <a:off x="9864461" y="561594"/>
            <a:ext cx="2324119" cy="9748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ctr">
            <a:spAutoFit/>
          </a:bodyPr>
          <a:lstStyle>
            <a:lvl1pPr algn="ctr">
              <a:defRPr b="1" sz="5900">
                <a:solidFill>
                  <a:srgbClr val="285D9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IBM</a:t>
            </a:r>
          </a:p>
        </p:txBody>
      </p:sp>
      <p:sp>
        <p:nvSpPr>
          <p:cNvPr id="96" name="TextBox 16"/>
          <p:cNvSpPr txBox="1"/>
          <p:nvPr/>
        </p:nvSpPr>
        <p:spPr>
          <a:xfrm>
            <a:off x="1920240" y="356869"/>
            <a:ext cx="8138160" cy="365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ctr">
            <a:spAutoFit/>
          </a:bodyPr>
          <a:lstStyle>
            <a:lvl1pPr algn="ctr">
              <a:defRPr b="1" sz="1900">
                <a:solidFill>
                  <a:srgbClr val="1E30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SHRI RAMSWAROOP MEMORIAL UNIVERSITY</a:t>
            </a:r>
          </a:p>
        </p:txBody>
      </p:sp>
      <p:sp>
        <p:nvSpPr>
          <p:cNvPr id="97" name="TextBox 17"/>
          <p:cNvSpPr txBox="1"/>
          <p:nvPr/>
        </p:nvSpPr>
        <p:spPr>
          <a:xfrm>
            <a:off x="1874518" y="767841"/>
            <a:ext cx="8229601" cy="238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ctr">
            <a:spAutoFit/>
          </a:bodyPr>
          <a:lstStyle>
            <a:lvl1pPr algn="ctr">
              <a:defRPr sz="1100">
                <a:solidFill>
                  <a:srgbClr val="676D7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Lucknow–Deva Road, Barabanki, Uttar Pradesh</a:t>
            </a:r>
          </a:p>
        </p:txBody>
      </p:sp>
      <p:sp>
        <p:nvSpPr>
          <p:cNvPr id="98" name="Rectangle 18"/>
          <p:cNvSpPr/>
          <p:nvPr/>
        </p:nvSpPr>
        <p:spPr>
          <a:xfrm>
            <a:off x="2423160" y="1161288"/>
            <a:ext cx="7315201" cy="22861"/>
          </a:xfrm>
          <a:prstGeom prst="rect">
            <a:avLst/>
          </a:prstGeom>
          <a:solidFill>
            <a:srgbClr val="E5EBF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" name="TextBox 19"/>
          <p:cNvSpPr txBox="1"/>
          <p:nvPr/>
        </p:nvSpPr>
        <p:spPr>
          <a:xfrm>
            <a:off x="914399" y="1547113"/>
            <a:ext cx="10332722" cy="289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ctr">
            <a:spAutoFit/>
          </a:bodyPr>
          <a:lstStyle>
            <a:lvl1pPr algn="ctr">
              <a:defRPr b="1" sz="1400">
                <a:solidFill>
                  <a:srgbClr val="246F52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INNOVATIVE IT  •  INNOVATIVE INTERNAL TEST PROJECT</a:t>
            </a:r>
          </a:p>
        </p:txBody>
      </p:sp>
      <p:sp>
        <p:nvSpPr>
          <p:cNvPr id="100" name="TextBox 20"/>
          <p:cNvSpPr txBox="1"/>
          <p:nvPr/>
        </p:nvSpPr>
        <p:spPr>
          <a:xfrm>
            <a:off x="914399" y="2288793"/>
            <a:ext cx="10332722" cy="543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ctr">
            <a:spAutoFit/>
          </a:bodyPr>
          <a:lstStyle>
            <a:lvl1pPr algn="ctr">
              <a:defRPr b="1" sz="3100">
                <a:solidFill>
                  <a:srgbClr val="1E30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CUSTOMER CHURN PREDICTION</a:t>
            </a:r>
          </a:p>
        </p:txBody>
      </p:sp>
      <p:sp>
        <p:nvSpPr>
          <p:cNvPr id="101" name="TextBox 21"/>
          <p:cNvSpPr txBox="1"/>
          <p:nvPr/>
        </p:nvSpPr>
        <p:spPr>
          <a:xfrm>
            <a:off x="1005839" y="3133852"/>
            <a:ext cx="10149842" cy="352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ctr">
            <a:spAutoFit/>
          </a:bodyPr>
          <a:lstStyle>
            <a:lvl1pPr algn="ctr">
              <a:defRPr>
                <a:solidFill>
                  <a:srgbClr val="363B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Data Science analysis of customer behaviour and retention patterns</a:t>
            </a:r>
          </a:p>
        </p:txBody>
      </p:sp>
      <p:sp>
        <p:nvSpPr>
          <p:cNvPr id="102" name="TextBox 22"/>
          <p:cNvSpPr txBox="1"/>
          <p:nvPr/>
        </p:nvSpPr>
        <p:spPr>
          <a:xfrm>
            <a:off x="1005839" y="3684014"/>
            <a:ext cx="10149842" cy="276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ctr">
            <a:spAutoFit/>
          </a:bodyPr>
          <a:lstStyle>
            <a:lvl1pPr algn="ctr">
              <a:defRPr b="1" sz="1300">
                <a:solidFill>
                  <a:srgbClr val="285D9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SUBJECT: DATA SCIENCE     |     SEMESTER: V</a:t>
            </a:r>
          </a:p>
        </p:txBody>
      </p:sp>
      <p:sp>
        <p:nvSpPr>
          <p:cNvPr id="103" name="Rounded Rectangle 23"/>
          <p:cNvSpPr/>
          <p:nvPr/>
        </p:nvSpPr>
        <p:spPr>
          <a:xfrm>
            <a:off x="1371600" y="4160520"/>
            <a:ext cx="9418320" cy="685801"/>
          </a:xfrm>
          <a:prstGeom prst="roundRect">
            <a:avLst>
              <a:gd name="adj" fmla="val 16667"/>
            </a:avLst>
          </a:prstGeom>
          <a:solidFill>
            <a:srgbClr val="F1F4F6"/>
          </a:solidFill>
          <a:ln>
            <a:solidFill>
              <a:srgbClr val="E5EB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" name="TextBox 24"/>
          <p:cNvSpPr txBox="1"/>
          <p:nvPr/>
        </p:nvSpPr>
        <p:spPr>
          <a:xfrm>
            <a:off x="1645919" y="4240784"/>
            <a:ext cx="8869682" cy="479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ctr">
            <a:spAutoFit/>
          </a:bodyPr>
          <a:lstStyle>
            <a:lvl1pPr algn="ctr">
              <a:defRPr sz="1300">
                <a:solidFill>
                  <a:srgbClr val="363B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 project report on exploring a public telecom customer dataset, identifying churn patterns, and outlining a machine-learning approach.</a:t>
            </a:r>
          </a:p>
        </p:txBody>
      </p:sp>
      <p:sp>
        <p:nvSpPr>
          <p:cNvPr id="105" name="TextBox 25"/>
          <p:cNvSpPr txBox="1"/>
          <p:nvPr/>
        </p:nvSpPr>
        <p:spPr>
          <a:xfrm>
            <a:off x="914399" y="5077460"/>
            <a:ext cx="10332722" cy="250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ctr">
            <a:spAutoFit/>
          </a:bodyPr>
          <a:lstStyle>
            <a:lvl1pPr algn="ctr">
              <a:defRPr b="1" sz="1200">
                <a:solidFill>
                  <a:srgbClr val="676D7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SUBMITTED BY</a:t>
            </a:r>
          </a:p>
        </p:txBody>
      </p:sp>
      <p:sp>
        <p:nvSpPr>
          <p:cNvPr id="106" name="Rectangle 26"/>
          <p:cNvSpPr/>
          <p:nvPr/>
        </p:nvSpPr>
        <p:spPr>
          <a:xfrm>
            <a:off x="1143000" y="5440679"/>
            <a:ext cx="4709160" cy="777241"/>
          </a:xfrm>
          <a:prstGeom prst="rect">
            <a:avLst/>
          </a:prstGeom>
          <a:solidFill>
            <a:srgbClr val="FFFFFF"/>
          </a:solidFill>
          <a:ln>
            <a:solidFill>
              <a:srgbClr val="E5EB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" name="TextBox 27"/>
          <p:cNvSpPr txBox="1"/>
          <p:nvPr/>
        </p:nvSpPr>
        <p:spPr>
          <a:xfrm>
            <a:off x="1280159" y="5475477"/>
            <a:ext cx="4434842" cy="314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ctr">
            <a:spAutoFit/>
          </a:bodyPr>
          <a:lstStyle>
            <a:lvl1pPr algn="ctr">
              <a:defRPr b="1" sz="1600">
                <a:solidFill>
                  <a:srgbClr val="1E30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Aman Kumar Sharma</a:t>
            </a:r>
          </a:p>
        </p:txBody>
      </p:sp>
      <p:sp>
        <p:nvSpPr>
          <p:cNvPr id="108" name="TextBox 28"/>
          <p:cNvSpPr txBox="1"/>
          <p:nvPr/>
        </p:nvSpPr>
        <p:spPr>
          <a:xfrm>
            <a:off x="1280159" y="5801614"/>
            <a:ext cx="4434842" cy="238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ctr">
            <a:spAutoFit/>
          </a:bodyPr>
          <a:lstStyle>
            <a:lvl1pPr algn="ctr">
              <a:defRPr sz="1100">
                <a:solidFill>
                  <a:srgbClr val="363B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Roll No. 202410101150011</a:t>
            </a:r>
          </a:p>
        </p:txBody>
      </p:sp>
      <p:sp>
        <p:nvSpPr>
          <p:cNvPr id="109" name="Rectangle 29"/>
          <p:cNvSpPr/>
          <p:nvPr/>
        </p:nvSpPr>
        <p:spPr>
          <a:xfrm>
            <a:off x="6263640" y="5440679"/>
            <a:ext cx="4709160" cy="777241"/>
          </a:xfrm>
          <a:prstGeom prst="rect">
            <a:avLst/>
          </a:prstGeom>
          <a:solidFill>
            <a:srgbClr val="FFFFFF"/>
          </a:solidFill>
          <a:ln>
            <a:solidFill>
              <a:srgbClr val="E5EB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" name="TextBox 30"/>
          <p:cNvSpPr txBox="1"/>
          <p:nvPr/>
        </p:nvSpPr>
        <p:spPr>
          <a:xfrm>
            <a:off x="6400799" y="5475477"/>
            <a:ext cx="4434842" cy="314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ctr">
            <a:spAutoFit/>
          </a:bodyPr>
          <a:lstStyle>
            <a:lvl1pPr algn="ctr">
              <a:defRPr b="1" sz="1600">
                <a:solidFill>
                  <a:srgbClr val="1E30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Nathaniel S. Thomas</a:t>
            </a:r>
          </a:p>
        </p:txBody>
      </p:sp>
      <p:sp>
        <p:nvSpPr>
          <p:cNvPr id="111" name="TextBox 31"/>
          <p:cNvSpPr txBox="1"/>
          <p:nvPr/>
        </p:nvSpPr>
        <p:spPr>
          <a:xfrm>
            <a:off x="6400799" y="5801614"/>
            <a:ext cx="4434842" cy="238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ctr">
            <a:spAutoFit/>
          </a:bodyPr>
          <a:lstStyle>
            <a:lvl1pPr algn="ctr">
              <a:defRPr sz="1100">
                <a:solidFill>
                  <a:srgbClr val="363B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Roll No. 202410101150009</a:t>
            </a:r>
          </a:p>
        </p:txBody>
      </p:sp>
      <p:sp>
        <p:nvSpPr>
          <p:cNvPr id="112" name="TextBox 32"/>
          <p:cNvSpPr txBox="1"/>
          <p:nvPr/>
        </p:nvSpPr>
        <p:spPr>
          <a:xfrm>
            <a:off x="914399" y="6404102"/>
            <a:ext cx="10332722" cy="2128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ctr">
            <a:spAutoFit/>
          </a:bodyPr>
          <a:lstStyle>
            <a:lvl1pPr algn="ctr">
              <a:defRPr b="1" sz="900">
                <a:solidFill>
                  <a:srgbClr val="676D7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DATA SCIENCE  •  FIFTH SEMESTER  •  ACADEMIC PROJECT</a:t>
            </a:r>
          </a:p>
        </p:txBody>
      </p:sp>
      <p:pic>
        <p:nvPicPr>
          <p:cNvPr id="113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6908" y="409321"/>
            <a:ext cx="1970152" cy="19701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9F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1"/>
          <p:cNvSpPr txBox="1"/>
          <p:nvPr/>
        </p:nvSpPr>
        <p:spPr>
          <a:xfrm>
            <a:off x="658368" y="320040"/>
            <a:ext cx="10881360" cy="298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000">
                <a:solidFill>
                  <a:srgbClr val="426F9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DATA SCIENCE  |  SEMESTER V  |  INNOVATIVE IT</a:t>
            </a:r>
          </a:p>
        </p:txBody>
      </p:sp>
      <p:sp>
        <p:nvSpPr>
          <p:cNvPr id="116" name="TextBox 2"/>
          <p:cNvSpPr txBox="1"/>
          <p:nvPr/>
        </p:nvSpPr>
        <p:spPr>
          <a:xfrm>
            <a:off x="658368" y="658367"/>
            <a:ext cx="10881360" cy="552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27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Introduction and project overview</a:t>
            </a:r>
          </a:p>
        </p:txBody>
      </p:sp>
      <p:sp>
        <p:nvSpPr>
          <p:cNvPr id="117" name="Rectangle 3"/>
          <p:cNvSpPr/>
          <p:nvPr/>
        </p:nvSpPr>
        <p:spPr>
          <a:xfrm>
            <a:off x="685800" y="1280160"/>
            <a:ext cx="594360" cy="41149"/>
          </a:xfrm>
          <a:prstGeom prst="rect">
            <a:avLst/>
          </a:prstGeom>
          <a:solidFill>
            <a:srgbClr val="52827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" name="TextBox 5"/>
          <p:cNvSpPr txBox="1"/>
          <p:nvPr/>
        </p:nvSpPr>
        <p:spPr>
          <a:xfrm>
            <a:off x="11064240" y="6473952"/>
            <a:ext cx="411481" cy="286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 algn="r">
              <a:spcBef>
                <a:spcPts val="200"/>
              </a:spcBef>
              <a:defRPr b="1" sz="900">
                <a:solidFill>
                  <a:srgbClr val="686E7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19" name="TextBox 6"/>
          <p:cNvSpPr txBox="1"/>
          <p:nvPr/>
        </p:nvSpPr>
        <p:spPr>
          <a:xfrm>
            <a:off x="777240" y="1627632"/>
            <a:ext cx="10515601" cy="451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20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What is customer churn?</a:t>
            </a:r>
          </a:p>
        </p:txBody>
      </p:sp>
      <p:sp>
        <p:nvSpPr>
          <p:cNvPr id="120" name="TextBox 7"/>
          <p:cNvSpPr txBox="1"/>
          <p:nvPr/>
        </p:nvSpPr>
        <p:spPr>
          <a:xfrm>
            <a:off x="777240" y="2011679"/>
            <a:ext cx="10424160" cy="90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sz="17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Customer churn means that a customer stops using a company’s product or service. In a telecom business, this may mean cancelling a mobile or internet connection. Churn matters because finding new customers can cost more than keeping existing ones.</a:t>
            </a:r>
          </a:p>
        </p:txBody>
      </p:sp>
      <p:sp>
        <p:nvSpPr>
          <p:cNvPr id="121" name="TextBox 8"/>
          <p:cNvSpPr txBox="1"/>
          <p:nvPr/>
        </p:nvSpPr>
        <p:spPr>
          <a:xfrm>
            <a:off x="777240" y="3246120"/>
            <a:ext cx="4800601" cy="438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9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Why did we choose this topic?</a:t>
            </a:r>
          </a:p>
        </p:txBody>
      </p:sp>
      <p:sp>
        <p:nvSpPr>
          <p:cNvPr id="122" name="TextBox 9"/>
          <p:cNvSpPr txBox="1"/>
          <p:nvPr/>
        </p:nvSpPr>
        <p:spPr>
          <a:xfrm>
            <a:off x="777240" y="3657599"/>
            <a:ext cx="4800601" cy="1352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sz="16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Customer records contain useful information about contracts, service usage, tenure and billing. By analysing these details, a business can look for patterns that are common among customers who leave.</a:t>
            </a:r>
          </a:p>
        </p:txBody>
      </p:sp>
      <p:sp>
        <p:nvSpPr>
          <p:cNvPr id="123" name="TextBox 10"/>
          <p:cNvSpPr txBox="1"/>
          <p:nvPr/>
        </p:nvSpPr>
        <p:spPr>
          <a:xfrm>
            <a:off x="6172199" y="3246120"/>
            <a:ext cx="4846322" cy="438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9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What does the project do?</a:t>
            </a:r>
          </a:p>
        </p:txBody>
      </p:sp>
      <p:sp>
        <p:nvSpPr>
          <p:cNvPr id="124" name="TextBox 11"/>
          <p:cNvSpPr txBox="1"/>
          <p:nvPr/>
        </p:nvSpPr>
        <p:spPr>
          <a:xfrm>
            <a:off x="6172200" y="3657599"/>
            <a:ext cx="4983480" cy="1111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sz="16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 project studies a public telecom dataset, summarises churn behaviour and outlines a machine-learning workflow that can estimate which customers may be at higher risk of leaving.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9F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1"/>
          <p:cNvSpPr txBox="1"/>
          <p:nvPr/>
        </p:nvSpPr>
        <p:spPr>
          <a:xfrm>
            <a:off x="658368" y="320040"/>
            <a:ext cx="10881360" cy="298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000">
                <a:solidFill>
                  <a:srgbClr val="426F9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DATA SCIENCE  |  SEMESTER V  |  INNOVATIVE IT</a:t>
            </a:r>
          </a:p>
        </p:txBody>
      </p:sp>
      <p:sp>
        <p:nvSpPr>
          <p:cNvPr id="127" name="TextBox 2"/>
          <p:cNvSpPr txBox="1"/>
          <p:nvPr/>
        </p:nvSpPr>
        <p:spPr>
          <a:xfrm>
            <a:off x="658368" y="658367"/>
            <a:ext cx="10881360" cy="552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27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Problem statement and objectives</a:t>
            </a:r>
          </a:p>
        </p:txBody>
      </p:sp>
      <p:sp>
        <p:nvSpPr>
          <p:cNvPr id="128" name="Rectangle 3"/>
          <p:cNvSpPr/>
          <p:nvPr/>
        </p:nvSpPr>
        <p:spPr>
          <a:xfrm>
            <a:off x="685800" y="1280160"/>
            <a:ext cx="594360" cy="41149"/>
          </a:xfrm>
          <a:prstGeom prst="rect">
            <a:avLst/>
          </a:prstGeom>
          <a:solidFill>
            <a:srgbClr val="52827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TextBox 5"/>
          <p:cNvSpPr txBox="1"/>
          <p:nvPr/>
        </p:nvSpPr>
        <p:spPr>
          <a:xfrm>
            <a:off x="11064240" y="6473952"/>
            <a:ext cx="411481" cy="286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 algn="r">
              <a:spcBef>
                <a:spcPts val="200"/>
              </a:spcBef>
              <a:defRPr b="1" sz="900">
                <a:solidFill>
                  <a:srgbClr val="686E7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30" name="Rounded Rectangle 6"/>
          <p:cNvSpPr/>
          <p:nvPr/>
        </p:nvSpPr>
        <p:spPr>
          <a:xfrm>
            <a:off x="777240" y="1645920"/>
            <a:ext cx="5074921" cy="1325881"/>
          </a:xfrm>
          <a:prstGeom prst="roundRect">
            <a:avLst>
              <a:gd name="adj" fmla="val 16667"/>
            </a:avLst>
          </a:prstGeom>
          <a:solidFill>
            <a:srgbClr val="EBF1F6"/>
          </a:solidFill>
          <a:ln>
            <a:solidFill>
              <a:srgbClr val="DCDCD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" name="Rectangle 7"/>
          <p:cNvSpPr/>
          <p:nvPr/>
        </p:nvSpPr>
        <p:spPr>
          <a:xfrm>
            <a:off x="795527" y="1773935"/>
            <a:ext cx="50293" cy="1069849"/>
          </a:xfrm>
          <a:prstGeom prst="rect">
            <a:avLst/>
          </a:prstGeom>
          <a:solidFill>
            <a:srgbClr val="426F9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" name="TextBox 8"/>
          <p:cNvSpPr txBox="1"/>
          <p:nvPr/>
        </p:nvSpPr>
        <p:spPr>
          <a:xfrm>
            <a:off x="960120" y="1764792"/>
            <a:ext cx="4727448" cy="387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6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Problem statement</a:t>
            </a:r>
          </a:p>
        </p:txBody>
      </p:sp>
      <p:sp>
        <p:nvSpPr>
          <p:cNvPr id="133" name="TextBox 9"/>
          <p:cNvSpPr txBox="1"/>
          <p:nvPr/>
        </p:nvSpPr>
        <p:spPr>
          <a:xfrm>
            <a:off x="960120" y="2148839"/>
            <a:ext cx="4727448" cy="832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sz="15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 telecom provider may lose revenue when customers cancel their services. The challenge is to identify patterns that may indicate a higher likelihood of churn.</a:t>
            </a:r>
          </a:p>
        </p:txBody>
      </p:sp>
      <p:sp>
        <p:nvSpPr>
          <p:cNvPr id="134" name="Rounded Rectangle 10"/>
          <p:cNvSpPr/>
          <p:nvPr/>
        </p:nvSpPr>
        <p:spPr>
          <a:xfrm>
            <a:off x="6217920" y="1645920"/>
            <a:ext cx="5074921" cy="1325881"/>
          </a:xfrm>
          <a:prstGeom prst="roundRect">
            <a:avLst>
              <a:gd name="adj" fmla="val 16667"/>
            </a:avLst>
          </a:prstGeom>
          <a:solidFill>
            <a:srgbClr val="EBF2ED"/>
          </a:solidFill>
          <a:ln>
            <a:solidFill>
              <a:srgbClr val="DCDCD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" name="Rectangle 11"/>
          <p:cNvSpPr/>
          <p:nvPr/>
        </p:nvSpPr>
        <p:spPr>
          <a:xfrm>
            <a:off x="6236206" y="1773935"/>
            <a:ext cx="50293" cy="1069849"/>
          </a:xfrm>
          <a:prstGeom prst="rect">
            <a:avLst/>
          </a:prstGeom>
          <a:solidFill>
            <a:srgbClr val="52827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" name="TextBox 12"/>
          <p:cNvSpPr txBox="1"/>
          <p:nvPr/>
        </p:nvSpPr>
        <p:spPr>
          <a:xfrm>
            <a:off x="6400800" y="1764792"/>
            <a:ext cx="4727448" cy="387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6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Project aim</a:t>
            </a:r>
          </a:p>
        </p:txBody>
      </p:sp>
      <p:sp>
        <p:nvSpPr>
          <p:cNvPr id="137" name="TextBox 13"/>
          <p:cNvSpPr txBox="1"/>
          <p:nvPr/>
        </p:nvSpPr>
        <p:spPr>
          <a:xfrm>
            <a:off x="6400800" y="2148839"/>
            <a:ext cx="4727448" cy="832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sz="15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Use exploratory data analysis and a basic classification workflow to understand churn and support better customer-retention decisions.</a:t>
            </a:r>
          </a:p>
        </p:txBody>
      </p:sp>
      <p:sp>
        <p:nvSpPr>
          <p:cNvPr id="138" name="TextBox 14"/>
          <p:cNvSpPr txBox="1"/>
          <p:nvPr/>
        </p:nvSpPr>
        <p:spPr>
          <a:xfrm>
            <a:off x="822959" y="3337559"/>
            <a:ext cx="4846322" cy="438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9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Objectives</a:t>
            </a:r>
          </a:p>
        </p:txBody>
      </p:sp>
      <p:sp>
        <p:nvSpPr>
          <p:cNvPr id="139" name="TextBox 15"/>
          <p:cNvSpPr txBox="1"/>
          <p:nvPr/>
        </p:nvSpPr>
        <p:spPr>
          <a:xfrm>
            <a:off x="877823" y="3767327"/>
            <a:ext cx="4956049" cy="1749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/>
          <a:p>
            <a:pPr>
              <a:spcBef>
                <a:spcPts val="800"/>
              </a:spcBef>
              <a:defRPr sz="15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Understand the columns and data types in the dataset.</a:t>
            </a:r>
          </a:p>
          <a:p>
            <a:pPr>
              <a:spcBef>
                <a:spcPts val="800"/>
              </a:spcBef>
              <a:defRPr sz="15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Calculate the proportion of churned and retained customers.</a:t>
            </a:r>
          </a:p>
          <a:p>
            <a:pPr>
              <a:spcBef>
                <a:spcPts val="800"/>
              </a:spcBef>
              <a:defRPr sz="15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Explore churn patterns by contract, tenure and services.</a:t>
            </a:r>
          </a:p>
          <a:p>
            <a:pPr>
              <a:spcBef>
                <a:spcPts val="800"/>
              </a:spcBef>
              <a:defRPr sz="15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Describe how a model can be trained and evaluated.</a:t>
            </a:r>
          </a:p>
        </p:txBody>
      </p:sp>
      <p:sp>
        <p:nvSpPr>
          <p:cNvPr id="140" name="TextBox 16"/>
          <p:cNvSpPr txBox="1"/>
          <p:nvPr/>
        </p:nvSpPr>
        <p:spPr>
          <a:xfrm>
            <a:off x="6217920" y="3337559"/>
            <a:ext cx="4754881" cy="438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9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Project scope</a:t>
            </a:r>
          </a:p>
        </p:txBody>
      </p:sp>
      <p:sp>
        <p:nvSpPr>
          <p:cNvPr id="141" name="TextBox 17"/>
          <p:cNvSpPr txBox="1"/>
          <p:nvPr/>
        </p:nvSpPr>
        <p:spPr>
          <a:xfrm>
            <a:off x="6281928" y="3767327"/>
            <a:ext cx="4818889" cy="1292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/>
          <a:p>
            <a:pPr>
              <a:spcBef>
                <a:spcPts val="800"/>
              </a:spcBef>
              <a:defRPr sz="15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Uses a public telecom customer dataset.</a:t>
            </a:r>
          </a:p>
          <a:p>
            <a:pPr>
              <a:spcBef>
                <a:spcPts val="800"/>
              </a:spcBef>
              <a:defRPr sz="15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Treats Churn as a Yes/No classification target.</a:t>
            </a:r>
          </a:p>
          <a:p>
            <a:pPr>
              <a:spcBef>
                <a:spcPts val="800"/>
              </a:spcBef>
              <a:defRPr sz="15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Focuses on analysis and decision support.</a:t>
            </a:r>
          </a:p>
          <a:p>
            <a:pPr>
              <a:spcBef>
                <a:spcPts val="800"/>
              </a:spcBef>
              <a:defRPr sz="15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Does not claim correlation proves causation.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9F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Box 1"/>
          <p:cNvSpPr txBox="1"/>
          <p:nvPr/>
        </p:nvSpPr>
        <p:spPr>
          <a:xfrm>
            <a:off x="658368" y="320040"/>
            <a:ext cx="10881360" cy="298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000">
                <a:solidFill>
                  <a:srgbClr val="426F9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DATA SCIENCE  |  SEMESTER V  |  INNOVATIVE IT</a:t>
            </a:r>
          </a:p>
        </p:txBody>
      </p:sp>
      <p:sp>
        <p:nvSpPr>
          <p:cNvPr id="144" name="TextBox 2"/>
          <p:cNvSpPr txBox="1"/>
          <p:nvPr/>
        </p:nvSpPr>
        <p:spPr>
          <a:xfrm>
            <a:off x="658368" y="658367"/>
            <a:ext cx="10881360" cy="552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27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Dataset description</a:t>
            </a:r>
          </a:p>
        </p:txBody>
      </p:sp>
      <p:sp>
        <p:nvSpPr>
          <p:cNvPr id="145" name="Rectangle 3"/>
          <p:cNvSpPr/>
          <p:nvPr/>
        </p:nvSpPr>
        <p:spPr>
          <a:xfrm>
            <a:off x="685800" y="1280160"/>
            <a:ext cx="594360" cy="41149"/>
          </a:xfrm>
          <a:prstGeom prst="rect">
            <a:avLst/>
          </a:prstGeom>
          <a:solidFill>
            <a:srgbClr val="52827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" name="TextBox 5"/>
          <p:cNvSpPr txBox="1"/>
          <p:nvPr/>
        </p:nvSpPr>
        <p:spPr>
          <a:xfrm>
            <a:off x="11064240" y="6473952"/>
            <a:ext cx="411481" cy="286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 algn="r">
              <a:spcBef>
                <a:spcPts val="200"/>
              </a:spcBef>
              <a:defRPr b="1" sz="900">
                <a:solidFill>
                  <a:srgbClr val="686E7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47" name="TextBox 6"/>
          <p:cNvSpPr txBox="1"/>
          <p:nvPr/>
        </p:nvSpPr>
        <p:spPr>
          <a:xfrm>
            <a:off x="822960" y="1600199"/>
            <a:ext cx="10515601" cy="451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20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IBM Telco Customer Churn sample dataset</a:t>
            </a:r>
          </a:p>
        </p:txBody>
      </p:sp>
      <p:sp>
        <p:nvSpPr>
          <p:cNvPr id="148" name="TextBox 7"/>
          <p:cNvSpPr txBox="1"/>
          <p:nvPr/>
        </p:nvSpPr>
        <p:spPr>
          <a:xfrm>
            <a:off x="822960" y="2011679"/>
            <a:ext cx="10515601" cy="628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sz="16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 dataset contains customer-level records for a fictional telecommunications provider. Each row represents one customer, and the Churn column indicates whether that customer left the service.</a:t>
            </a:r>
          </a:p>
        </p:txBody>
      </p:sp>
      <p:sp>
        <p:nvSpPr>
          <p:cNvPr id="149" name="Rounded Rectangle 8"/>
          <p:cNvSpPr/>
          <p:nvPr/>
        </p:nvSpPr>
        <p:spPr>
          <a:xfrm>
            <a:off x="822960" y="2926079"/>
            <a:ext cx="3246121" cy="118872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DCD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" name="Rectangle 9"/>
          <p:cNvSpPr/>
          <p:nvPr/>
        </p:nvSpPr>
        <p:spPr>
          <a:xfrm>
            <a:off x="841247" y="3054095"/>
            <a:ext cx="50293" cy="932689"/>
          </a:xfrm>
          <a:prstGeom prst="rect">
            <a:avLst/>
          </a:prstGeom>
          <a:solidFill>
            <a:srgbClr val="426F9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" name="TextBox 10"/>
          <p:cNvSpPr txBox="1"/>
          <p:nvPr/>
        </p:nvSpPr>
        <p:spPr>
          <a:xfrm>
            <a:off x="1005839" y="3044951"/>
            <a:ext cx="2898649" cy="387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6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Number of records</a:t>
            </a:r>
          </a:p>
        </p:txBody>
      </p:sp>
      <p:sp>
        <p:nvSpPr>
          <p:cNvPr id="152" name="TextBox 11"/>
          <p:cNvSpPr txBox="1"/>
          <p:nvPr/>
        </p:nvSpPr>
        <p:spPr>
          <a:xfrm>
            <a:off x="1005839" y="3429000"/>
            <a:ext cx="2898649" cy="387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sz="16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7,043 customer rows</a:t>
            </a:r>
          </a:p>
        </p:txBody>
      </p:sp>
      <p:sp>
        <p:nvSpPr>
          <p:cNvPr id="153" name="Rounded Rectangle 12"/>
          <p:cNvSpPr/>
          <p:nvPr/>
        </p:nvSpPr>
        <p:spPr>
          <a:xfrm>
            <a:off x="4434840" y="2926079"/>
            <a:ext cx="3246121" cy="118872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DCD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" name="Rectangle 13"/>
          <p:cNvSpPr/>
          <p:nvPr/>
        </p:nvSpPr>
        <p:spPr>
          <a:xfrm>
            <a:off x="4453127" y="3054095"/>
            <a:ext cx="50293" cy="932689"/>
          </a:xfrm>
          <a:prstGeom prst="rect">
            <a:avLst/>
          </a:prstGeom>
          <a:solidFill>
            <a:srgbClr val="52827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5" name="TextBox 14"/>
          <p:cNvSpPr txBox="1"/>
          <p:nvPr/>
        </p:nvSpPr>
        <p:spPr>
          <a:xfrm>
            <a:off x="4617720" y="3044951"/>
            <a:ext cx="2898649" cy="387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6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Number of columns</a:t>
            </a:r>
          </a:p>
        </p:txBody>
      </p:sp>
      <p:sp>
        <p:nvSpPr>
          <p:cNvPr id="156" name="TextBox 15"/>
          <p:cNvSpPr txBox="1"/>
          <p:nvPr/>
        </p:nvSpPr>
        <p:spPr>
          <a:xfrm>
            <a:off x="4617720" y="3429000"/>
            <a:ext cx="2898649" cy="387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sz="16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21 fields in the raw file</a:t>
            </a:r>
          </a:p>
        </p:txBody>
      </p:sp>
      <p:sp>
        <p:nvSpPr>
          <p:cNvPr id="157" name="Rounded Rectangle 16"/>
          <p:cNvSpPr/>
          <p:nvPr/>
        </p:nvSpPr>
        <p:spPr>
          <a:xfrm>
            <a:off x="8046719" y="2926079"/>
            <a:ext cx="3246121" cy="118872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DCD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" name="Rectangle 17"/>
          <p:cNvSpPr/>
          <p:nvPr/>
        </p:nvSpPr>
        <p:spPr>
          <a:xfrm>
            <a:off x="8065007" y="3054095"/>
            <a:ext cx="50293" cy="932689"/>
          </a:xfrm>
          <a:prstGeom prst="rect">
            <a:avLst/>
          </a:prstGeom>
          <a:solidFill>
            <a:srgbClr val="AE74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" name="TextBox 18"/>
          <p:cNvSpPr txBox="1"/>
          <p:nvPr/>
        </p:nvSpPr>
        <p:spPr>
          <a:xfrm>
            <a:off x="8229599" y="3044951"/>
            <a:ext cx="2898650" cy="387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6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Target variable</a:t>
            </a:r>
          </a:p>
        </p:txBody>
      </p:sp>
      <p:sp>
        <p:nvSpPr>
          <p:cNvPr id="160" name="TextBox 19"/>
          <p:cNvSpPr txBox="1"/>
          <p:nvPr/>
        </p:nvSpPr>
        <p:spPr>
          <a:xfrm>
            <a:off x="8229599" y="3429000"/>
            <a:ext cx="2898650" cy="387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sz="16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Churn: Yes or No</a:t>
            </a:r>
          </a:p>
        </p:txBody>
      </p:sp>
      <p:sp>
        <p:nvSpPr>
          <p:cNvPr id="161" name="TextBox 20"/>
          <p:cNvSpPr txBox="1"/>
          <p:nvPr/>
        </p:nvSpPr>
        <p:spPr>
          <a:xfrm>
            <a:off x="841248" y="4526279"/>
            <a:ext cx="4754880" cy="438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9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Information available</a:t>
            </a:r>
          </a:p>
        </p:txBody>
      </p:sp>
      <p:sp>
        <p:nvSpPr>
          <p:cNvPr id="162" name="TextBox 21"/>
          <p:cNvSpPr txBox="1"/>
          <p:nvPr/>
        </p:nvSpPr>
        <p:spPr>
          <a:xfrm>
            <a:off x="905255" y="4937759"/>
            <a:ext cx="5001770" cy="8478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/>
          <a:p>
            <a:pPr>
              <a:spcBef>
                <a:spcPts val="500"/>
              </a:spcBef>
              <a:defRPr sz="14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Customer profile and household information</a:t>
            </a:r>
          </a:p>
          <a:p>
            <a:pPr>
              <a:spcBef>
                <a:spcPts val="500"/>
              </a:spcBef>
              <a:defRPr sz="14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Contract, tenure, billing and payment details</a:t>
            </a:r>
          </a:p>
          <a:p>
            <a:pPr>
              <a:spcBef>
                <a:spcPts val="500"/>
              </a:spcBef>
              <a:defRPr sz="14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Internet, phone and optional support services</a:t>
            </a:r>
          </a:p>
        </p:txBody>
      </p:sp>
      <p:sp>
        <p:nvSpPr>
          <p:cNvPr id="163" name="TextBox 22"/>
          <p:cNvSpPr txBox="1"/>
          <p:nvPr/>
        </p:nvSpPr>
        <p:spPr>
          <a:xfrm>
            <a:off x="6217919" y="4526279"/>
            <a:ext cx="4663442" cy="438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9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Data preparation note</a:t>
            </a:r>
          </a:p>
        </p:txBody>
      </p:sp>
      <p:sp>
        <p:nvSpPr>
          <p:cNvPr id="164" name="TextBox 23"/>
          <p:cNvSpPr txBox="1"/>
          <p:nvPr/>
        </p:nvSpPr>
        <p:spPr>
          <a:xfrm>
            <a:off x="6236208" y="4919471"/>
            <a:ext cx="4892041" cy="794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sz="14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TotalCharges is stored as text in the raw CSV. It should be converted to a numeric field. Blank values must be checked before model training rather than silently ignored.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9F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Box 1"/>
          <p:cNvSpPr txBox="1"/>
          <p:nvPr/>
        </p:nvSpPr>
        <p:spPr>
          <a:xfrm>
            <a:off x="658368" y="320040"/>
            <a:ext cx="10881360" cy="298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000">
                <a:solidFill>
                  <a:srgbClr val="426F9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DATA SCIENCE  |  SEMESTER V  |  INNOVATIVE IT</a:t>
            </a:r>
          </a:p>
        </p:txBody>
      </p:sp>
      <p:sp>
        <p:nvSpPr>
          <p:cNvPr id="167" name="TextBox 2"/>
          <p:cNvSpPr txBox="1"/>
          <p:nvPr/>
        </p:nvSpPr>
        <p:spPr>
          <a:xfrm>
            <a:off x="658368" y="658367"/>
            <a:ext cx="10881360" cy="552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27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First result: churn distribution</a:t>
            </a:r>
          </a:p>
        </p:txBody>
      </p:sp>
      <p:sp>
        <p:nvSpPr>
          <p:cNvPr id="168" name="Rectangle 3"/>
          <p:cNvSpPr/>
          <p:nvPr/>
        </p:nvSpPr>
        <p:spPr>
          <a:xfrm>
            <a:off x="685800" y="1280160"/>
            <a:ext cx="594360" cy="41149"/>
          </a:xfrm>
          <a:prstGeom prst="rect">
            <a:avLst/>
          </a:prstGeom>
          <a:solidFill>
            <a:srgbClr val="52827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9" name="TextBox 5"/>
          <p:cNvSpPr txBox="1"/>
          <p:nvPr/>
        </p:nvSpPr>
        <p:spPr>
          <a:xfrm>
            <a:off x="11064240" y="6473952"/>
            <a:ext cx="411481" cy="286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 algn="r">
              <a:spcBef>
                <a:spcPts val="200"/>
              </a:spcBef>
              <a:defRPr b="1" sz="900">
                <a:solidFill>
                  <a:srgbClr val="686E7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70" name="TextBox 6"/>
          <p:cNvSpPr txBox="1"/>
          <p:nvPr/>
        </p:nvSpPr>
        <p:spPr>
          <a:xfrm>
            <a:off x="822960" y="1600199"/>
            <a:ext cx="10424160" cy="451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20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How many customers left the service?</a:t>
            </a:r>
          </a:p>
        </p:txBody>
      </p:sp>
      <p:sp>
        <p:nvSpPr>
          <p:cNvPr id="171" name="Rounded Rectangle 7"/>
          <p:cNvSpPr/>
          <p:nvPr/>
        </p:nvSpPr>
        <p:spPr>
          <a:xfrm>
            <a:off x="822960" y="2148839"/>
            <a:ext cx="3246121" cy="1234441"/>
          </a:xfrm>
          <a:prstGeom prst="roundRect">
            <a:avLst>
              <a:gd name="adj" fmla="val 16667"/>
            </a:avLst>
          </a:prstGeom>
          <a:solidFill>
            <a:srgbClr val="F8EFE0"/>
          </a:solidFill>
          <a:ln>
            <a:solidFill>
              <a:srgbClr val="DCDCD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2" name="Rectangle 8"/>
          <p:cNvSpPr/>
          <p:nvPr/>
        </p:nvSpPr>
        <p:spPr>
          <a:xfrm>
            <a:off x="841247" y="2276855"/>
            <a:ext cx="50293" cy="978409"/>
          </a:xfrm>
          <a:prstGeom prst="rect">
            <a:avLst/>
          </a:prstGeom>
          <a:solidFill>
            <a:srgbClr val="AE74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" name="TextBox 9"/>
          <p:cNvSpPr txBox="1"/>
          <p:nvPr/>
        </p:nvSpPr>
        <p:spPr>
          <a:xfrm>
            <a:off x="1005839" y="2267711"/>
            <a:ext cx="2898649" cy="387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6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Churn = Yes</a:t>
            </a:r>
          </a:p>
        </p:txBody>
      </p:sp>
      <p:sp>
        <p:nvSpPr>
          <p:cNvPr id="174" name="TextBox 10"/>
          <p:cNvSpPr txBox="1"/>
          <p:nvPr/>
        </p:nvSpPr>
        <p:spPr>
          <a:xfrm>
            <a:off x="1005839" y="2651760"/>
            <a:ext cx="2898649" cy="654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/>
          <a:p>
            <a:pPr>
              <a:spcBef>
                <a:spcPts val="200"/>
              </a:spcBef>
              <a:defRPr sz="16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1,869 customers</a:t>
            </a:r>
          </a:p>
          <a:p>
            <a:pPr>
              <a:spcBef>
                <a:spcPts val="200"/>
              </a:spcBef>
              <a:defRPr sz="16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26.54% of the dataset</a:t>
            </a:r>
          </a:p>
        </p:txBody>
      </p:sp>
      <p:sp>
        <p:nvSpPr>
          <p:cNvPr id="175" name="Rounded Rectangle 11"/>
          <p:cNvSpPr/>
          <p:nvPr/>
        </p:nvSpPr>
        <p:spPr>
          <a:xfrm>
            <a:off x="4434840" y="2148839"/>
            <a:ext cx="3246121" cy="1234441"/>
          </a:xfrm>
          <a:prstGeom prst="roundRect">
            <a:avLst>
              <a:gd name="adj" fmla="val 16667"/>
            </a:avLst>
          </a:prstGeom>
          <a:solidFill>
            <a:srgbClr val="EBF2ED"/>
          </a:solidFill>
          <a:ln>
            <a:solidFill>
              <a:srgbClr val="DCDCD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" name="Rectangle 12"/>
          <p:cNvSpPr/>
          <p:nvPr/>
        </p:nvSpPr>
        <p:spPr>
          <a:xfrm>
            <a:off x="4453127" y="2276855"/>
            <a:ext cx="50293" cy="978409"/>
          </a:xfrm>
          <a:prstGeom prst="rect">
            <a:avLst/>
          </a:prstGeom>
          <a:solidFill>
            <a:srgbClr val="52827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" name="TextBox 13"/>
          <p:cNvSpPr txBox="1"/>
          <p:nvPr/>
        </p:nvSpPr>
        <p:spPr>
          <a:xfrm>
            <a:off x="4617720" y="2267711"/>
            <a:ext cx="2898649" cy="387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6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Churn = No</a:t>
            </a:r>
          </a:p>
        </p:txBody>
      </p:sp>
      <p:sp>
        <p:nvSpPr>
          <p:cNvPr id="178" name="TextBox 14"/>
          <p:cNvSpPr txBox="1"/>
          <p:nvPr/>
        </p:nvSpPr>
        <p:spPr>
          <a:xfrm>
            <a:off x="4617720" y="2651760"/>
            <a:ext cx="2898649" cy="654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/>
          <a:p>
            <a:pPr>
              <a:spcBef>
                <a:spcPts val="200"/>
              </a:spcBef>
              <a:defRPr sz="16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5,174 customers</a:t>
            </a:r>
          </a:p>
          <a:p>
            <a:pPr>
              <a:spcBef>
                <a:spcPts val="200"/>
              </a:spcBef>
              <a:defRPr sz="16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73.46% of the dataset</a:t>
            </a:r>
          </a:p>
        </p:txBody>
      </p:sp>
      <p:sp>
        <p:nvSpPr>
          <p:cNvPr id="179" name="Rounded Rectangle 15"/>
          <p:cNvSpPr/>
          <p:nvPr/>
        </p:nvSpPr>
        <p:spPr>
          <a:xfrm>
            <a:off x="8046719" y="2148839"/>
            <a:ext cx="3246121" cy="1234441"/>
          </a:xfrm>
          <a:prstGeom prst="roundRect">
            <a:avLst>
              <a:gd name="adj" fmla="val 16667"/>
            </a:avLst>
          </a:prstGeom>
          <a:solidFill>
            <a:srgbClr val="EBF1F6"/>
          </a:solidFill>
          <a:ln>
            <a:solidFill>
              <a:srgbClr val="DCDCD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0" name="Rectangle 16"/>
          <p:cNvSpPr/>
          <p:nvPr/>
        </p:nvSpPr>
        <p:spPr>
          <a:xfrm>
            <a:off x="8065007" y="2276855"/>
            <a:ext cx="50293" cy="978409"/>
          </a:xfrm>
          <a:prstGeom prst="rect">
            <a:avLst/>
          </a:prstGeom>
          <a:solidFill>
            <a:srgbClr val="426F9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1" name="TextBox 17"/>
          <p:cNvSpPr txBox="1"/>
          <p:nvPr/>
        </p:nvSpPr>
        <p:spPr>
          <a:xfrm>
            <a:off x="8229599" y="2267711"/>
            <a:ext cx="2898650" cy="387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6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Total</a:t>
            </a:r>
          </a:p>
        </p:txBody>
      </p:sp>
      <p:sp>
        <p:nvSpPr>
          <p:cNvPr id="182" name="TextBox 18"/>
          <p:cNvSpPr txBox="1"/>
          <p:nvPr/>
        </p:nvSpPr>
        <p:spPr>
          <a:xfrm>
            <a:off x="8229599" y="2651760"/>
            <a:ext cx="2898650" cy="654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/>
          <a:p>
            <a:pPr>
              <a:spcBef>
                <a:spcPts val="200"/>
              </a:spcBef>
              <a:defRPr sz="16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7,043 customers</a:t>
            </a:r>
          </a:p>
          <a:p>
            <a:pPr>
              <a:spcBef>
                <a:spcPts val="200"/>
              </a:spcBef>
              <a:defRPr sz="16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100% of the dataset</a:t>
            </a:r>
          </a:p>
        </p:txBody>
      </p:sp>
      <p:sp>
        <p:nvSpPr>
          <p:cNvPr id="183" name="TextBox 19"/>
          <p:cNvSpPr txBox="1"/>
          <p:nvPr/>
        </p:nvSpPr>
        <p:spPr>
          <a:xfrm>
            <a:off x="868680" y="3794759"/>
            <a:ext cx="4754880" cy="438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9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Proportion of records</a:t>
            </a:r>
          </a:p>
        </p:txBody>
      </p:sp>
      <p:sp>
        <p:nvSpPr>
          <p:cNvPr id="184" name="TextBox 20"/>
          <p:cNvSpPr txBox="1"/>
          <p:nvPr/>
        </p:nvSpPr>
        <p:spPr>
          <a:xfrm>
            <a:off x="914399" y="4315967"/>
            <a:ext cx="3031238" cy="374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5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Customers who churned</a:t>
            </a:r>
          </a:p>
        </p:txBody>
      </p:sp>
      <p:sp>
        <p:nvSpPr>
          <p:cNvPr id="185" name="TextBox 21"/>
          <p:cNvSpPr txBox="1"/>
          <p:nvPr/>
        </p:nvSpPr>
        <p:spPr>
          <a:xfrm>
            <a:off x="3992269" y="4315967"/>
            <a:ext cx="1585570" cy="374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 algn="r">
              <a:spcBef>
                <a:spcPts val="200"/>
              </a:spcBef>
              <a:defRPr b="1" sz="15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26.54%</a:t>
            </a:r>
          </a:p>
        </p:txBody>
      </p:sp>
      <p:sp>
        <p:nvSpPr>
          <p:cNvPr id="186" name="Rectangle 22"/>
          <p:cNvSpPr/>
          <p:nvPr/>
        </p:nvSpPr>
        <p:spPr>
          <a:xfrm>
            <a:off x="914399" y="4663440"/>
            <a:ext cx="4663442" cy="201169"/>
          </a:xfrm>
          <a:prstGeom prst="rect">
            <a:avLst/>
          </a:prstGeom>
          <a:solidFill>
            <a:srgbClr val="DCDCD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" name="Rectangle 23"/>
          <p:cNvSpPr/>
          <p:nvPr/>
        </p:nvSpPr>
        <p:spPr>
          <a:xfrm>
            <a:off x="914399" y="4663440"/>
            <a:ext cx="1237678" cy="201169"/>
          </a:xfrm>
          <a:prstGeom prst="rect">
            <a:avLst/>
          </a:prstGeom>
          <a:solidFill>
            <a:srgbClr val="AE74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" name="TextBox 24"/>
          <p:cNvSpPr txBox="1"/>
          <p:nvPr/>
        </p:nvSpPr>
        <p:spPr>
          <a:xfrm>
            <a:off x="914399" y="5212079"/>
            <a:ext cx="3031238" cy="374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5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Customers retained</a:t>
            </a:r>
          </a:p>
        </p:txBody>
      </p:sp>
      <p:sp>
        <p:nvSpPr>
          <p:cNvPr id="189" name="TextBox 25"/>
          <p:cNvSpPr txBox="1"/>
          <p:nvPr/>
        </p:nvSpPr>
        <p:spPr>
          <a:xfrm>
            <a:off x="3992269" y="5212079"/>
            <a:ext cx="1585570" cy="374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 algn="r">
              <a:spcBef>
                <a:spcPts val="200"/>
              </a:spcBef>
              <a:defRPr b="1" sz="15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73.46%</a:t>
            </a:r>
          </a:p>
        </p:txBody>
      </p:sp>
      <p:sp>
        <p:nvSpPr>
          <p:cNvPr id="190" name="Rectangle 26"/>
          <p:cNvSpPr/>
          <p:nvPr/>
        </p:nvSpPr>
        <p:spPr>
          <a:xfrm>
            <a:off x="914399" y="5559552"/>
            <a:ext cx="4663442" cy="201169"/>
          </a:xfrm>
          <a:prstGeom prst="rect">
            <a:avLst/>
          </a:prstGeom>
          <a:solidFill>
            <a:srgbClr val="DCDCD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" name="Rectangle 27"/>
          <p:cNvSpPr/>
          <p:nvPr/>
        </p:nvSpPr>
        <p:spPr>
          <a:xfrm>
            <a:off x="914400" y="5559552"/>
            <a:ext cx="3425763" cy="201169"/>
          </a:xfrm>
          <a:prstGeom prst="rect">
            <a:avLst/>
          </a:prstGeom>
          <a:solidFill>
            <a:srgbClr val="52827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" name="TextBox 28"/>
          <p:cNvSpPr txBox="1"/>
          <p:nvPr/>
        </p:nvSpPr>
        <p:spPr>
          <a:xfrm>
            <a:off x="6217920" y="3886199"/>
            <a:ext cx="4846321" cy="438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9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What does this tell us?</a:t>
            </a:r>
          </a:p>
        </p:txBody>
      </p:sp>
      <p:sp>
        <p:nvSpPr>
          <p:cNvPr id="193" name="TextBox 29"/>
          <p:cNvSpPr txBox="1"/>
          <p:nvPr/>
        </p:nvSpPr>
        <p:spPr>
          <a:xfrm>
            <a:off x="6217920" y="4343399"/>
            <a:ext cx="4846321" cy="1352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sz="16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About one customer in every four is labelled as churned. This is important because a prediction model should not be judged only by its overall accuracy; it should also show how well it identifies customers who actually leave.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9F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Box 1"/>
          <p:cNvSpPr txBox="1"/>
          <p:nvPr/>
        </p:nvSpPr>
        <p:spPr>
          <a:xfrm>
            <a:off x="658368" y="320040"/>
            <a:ext cx="10881360" cy="298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000">
                <a:solidFill>
                  <a:srgbClr val="426F9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DATA SCIENCE  |  SEMESTER V  |  INNOVATIVE IT</a:t>
            </a:r>
          </a:p>
        </p:txBody>
      </p:sp>
      <p:sp>
        <p:nvSpPr>
          <p:cNvPr id="196" name="TextBox 2"/>
          <p:cNvSpPr txBox="1"/>
          <p:nvPr/>
        </p:nvSpPr>
        <p:spPr>
          <a:xfrm>
            <a:off x="658368" y="658367"/>
            <a:ext cx="10881360" cy="552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27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Finding 1: contract type and churn</a:t>
            </a:r>
          </a:p>
        </p:txBody>
      </p:sp>
      <p:sp>
        <p:nvSpPr>
          <p:cNvPr id="197" name="Rectangle 3"/>
          <p:cNvSpPr/>
          <p:nvPr/>
        </p:nvSpPr>
        <p:spPr>
          <a:xfrm>
            <a:off x="685800" y="1280160"/>
            <a:ext cx="594360" cy="41149"/>
          </a:xfrm>
          <a:prstGeom prst="rect">
            <a:avLst/>
          </a:prstGeom>
          <a:solidFill>
            <a:srgbClr val="52827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" name="TextBox 5"/>
          <p:cNvSpPr txBox="1"/>
          <p:nvPr/>
        </p:nvSpPr>
        <p:spPr>
          <a:xfrm>
            <a:off x="11064240" y="6473952"/>
            <a:ext cx="411481" cy="286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 algn="r">
              <a:spcBef>
                <a:spcPts val="200"/>
              </a:spcBef>
              <a:defRPr b="1" sz="900">
                <a:solidFill>
                  <a:srgbClr val="686E7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99" name="TextBox 6"/>
          <p:cNvSpPr txBox="1"/>
          <p:nvPr/>
        </p:nvSpPr>
        <p:spPr>
          <a:xfrm>
            <a:off x="822960" y="1600199"/>
            <a:ext cx="10515601" cy="425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Contract type is one of the clearest patterns reported in analyses of this dataset.</a:t>
            </a:r>
          </a:p>
        </p:txBody>
      </p:sp>
      <p:sp>
        <p:nvSpPr>
          <p:cNvPr id="200" name="TextBox 7"/>
          <p:cNvSpPr txBox="1"/>
          <p:nvPr/>
        </p:nvSpPr>
        <p:spPr>
          <a:xfrm>
            <a:off x="868680" y="2148839"/>
            <a:ext cx="4800601" cy="425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Illustrative churn rates by contract</a:t>
            </a:r>
          </a:p>
        </p:txBody>
      </p:sp>
      <p:sp>
        <p:nvSpPr>
          <p:cNvPr id="201" name="TextBox 8"/>
          <p:cNvSpPr txBox="1"/>
          <p:nvPr/>
        </p:nvSpPr>
        <p:spPr>
          <a:xfrm>
            <a:off x="914399" y="2697479"/>
            <a:ext cx="3060956" cy="374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5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Month-to-month</a:t>
            </a:r>
          </a:p>
        </p:txBody>
      </p:sp>
      <p:sp>
        <p:nvSpPr>
          <p:cNvPr id="202" name="TextBox 9"/>
          <p:cNvSpPr txBox="1"/>
          <p:nvPr/>
        </p:nvSpPr>
        <p:spPr>
          <a:xfrm>
            <a:off x="4022445" y="2697479"/>
            <a:ext cx="1601115" cy="374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 algn="r">
              <a:spcBef>
                <a:spcPts val="200"/>
              </a:spcBef>
              <a:defRPr b="1" sz="15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about 42.7%</a:t>
            </a:r>
          </a:p>
        </p:txBody>
      </p:sp>
      <p:sp>
        <p:nvSpPr>
          <p:cNvPr id="203" name="Rectangle 10"/>
          <p:cNvSpPr/>
          <p:nvPr/>
        </p:nvSpPr>
        <p:spPr>
          <a:xfrm>
            <a:off x="914400" y="3044951"/>
            <a:ext cx="4709160" cy="201169"/>
          </a:xfrm>
          <a:prstGeom prst="rect">
            <a:avLst/>
          </a:prstGeom>
          <a:solidFill>
            <a:srgbClr val="DCDCD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" name="Rectangle 11"/>
          <p:cNvSpPr/>
          <p:nvPr/>
        </p:nvSpPr>
        <p:spPr>
          <a:xfrm>
            <a:off x="914399" y="3044951"/>
            <a:ext cx="4468471" cy="201169"/>
          </a:xfrm>
          <a:prstGeom prst="rect">
            <a:avLst/>
          </a:prstGeom>
          <a:solidFill>
            <a:srgbClr val="AE74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" name="TextBox 12"/>
          <p:cNvSpPr txBox="1"/>
          <p:nvPr/>
        </p:nvSpPr>
        <p:spPr>
          <a:xfrm>
            <a:off x="914399" y="3611879"/>
            <a:ext cx="3060956" cy="374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5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Two-year contract</a:t>
            </a:r>
          </a:p>
        </p:txBody>
      </p:sp>
      <p:sp>
        <p:nvSpPr>
          <p:cNvPr id="206" name="TextBox 13"/>
          <p:cNvSpPr txBox="1"/>
          <p:nvPr/>
        </p:nvSpPr>
        <p:spPr>
          <a:xfrm>
            <a:off x="4022445" y="3611879"/>
            <a:ext cx="1601115" cy="374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 algn="r">
              <a:spcBef>
                <a:spcPts val="200"/>
              </a:spcBef>
              <a:defRPr b="1" sz="15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about 2.8%</a:t>
            </a:r>
          </a:p>
        </p:txBody>
      </p:sp>
      <p:sp>
        <p:nvSpPr>
          <p:cNvPr id="207" name="Rectangle 14"/>
          <p:cNvSpPr/>
          <p:nvPr/>
        </p:nvSpPr>
        <p:spPr>
          <a:xfrm>
            <a:off x="914400" y="3959352"/>
            <a:ext cx="4709160" cy="201169"/>
          </a:xfrm>
          <a:prstGeom prst="rect">
            <a:avLst/>
          </a:prstGeom>
          <a:solidFill>
            <a:srgbClr val="DCDCD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8" name="Rectangle 15"/>
          <p:cNvSpPr/>
          <p:nvPr/>
        </p:nvSpPr>
        <p:spPr>
          <a:xfrm>
            <a:off x="914400" y="3959352"/>
            <a:ext cx="293014" cy="201169"/>
          </a:xfrm>
          <a:prstGeom prst="rect">
            <a:avLst/>
          </a:prstGeom>
          <a:solidFill>
            <a:srgbClr val="52827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" name="TextBox 16"/>
          <p:cNvSpPr txBox="1"/>
          <p:nvPr/>
        </p:nvSpPr>
        <p:spPr>
          <a:xfrm>
            <a:off x="6263640" y="2148839"/>
            <a:ext cx="4754881" cy="438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9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Interpretation</a:t>
            </a:r>
          </a:p>
        </p:txBody>
      </p:sp>
      <p:sp>
        <p:nvSpPr>
          <p:cNvPr id="210" name="TextBox 17"/>
          <p:cNvSpPr txBox="1"/>
          <p:nvPr/>
        </p:nvSpPr>
        <p:spPr>
          <a:xfrm>
            <a:off x="6263640" y="2606039"/>
            <a:ext cx="4800601" cy="1111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sz="16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Customers on month-to-month contracts are much more likely to churn in commonly reported analyses. Customers on longer contracts show a lower churn rate.</a:t>
            </a:r>
          </a:p>
        </p:txBody>
      </p:sp>
      <p:sp>
        <p:nvSpPr>
          <p:cNvPr id="211" name="TextBox 18"/>
          <p:cNvSpPr txBox="1"/>
          <p:nvPr/>
        </p:nvSpPr>
        <p:spPr>
          <a:xfrm>
            <a:off x="6263640" y="3886199"/>
            <a:ext cx="4754881" cy="438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9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Possible business response</a:t>
            </a:r>
          </a:p>
        </p:txBody>
      </p:sp>
      <p:sp>
        <p:nvSpPr>
          <p:cNvPr id="212" name="TextBox 19"/>
          <p:cNvSpPr txBox="1"/>
          <p:nvPr/>
        </p:nvSpPr>
        <p:spPr>
          <a:xfrm>
            <a:off x="6263640" y="4343400"/>
            <a:ext cx="4800601" cy="1111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sz="16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 provider could review renewal offers, explain longer-term plans clearly and contact customers before renewal dates. These ideas should be tested rather than assumed to work.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9F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extBox 1"/>
          <p:cNvSpPr txBox="1"/>
          <p:nvPr/>
        </p:nvSpPr>
        <p:spPr>
          <a:xfrm>
            <a:off x="658368" y="320040"/>
            <a:ext cx="10881360" cy="298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000">
                <a:solidFill>
                  <a:srgbClr val="426F9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DATA SCIENCE  |  SEMESTER V  |  INNOVATIVE IT</a:t>
            </a:r>
          </a:p>
        </p:txBody>
      </p:sp>
      <p:sp>
        <p:nvSpPr>
          <p:cNvPr id="215" name="TextBox 2"/>
          <p:cNvSpPr txBox="1"/>
          <p:nvPr/>
        </p:nvSpPr>
        <p:spPr>
          <a:xfrm>
            <a:off x="658368" y="658367"/>
            <a:ext cx="10881360" cy="552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27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Finding 2: tenure and service patterns</a:t>
            </a:r>
          </a:p>
        </p:txBody>
      </p:sp>
      <p:sp>
        <p:nvSpPr>
          <p:cNvPr id="216" name="Rectangle 3"/>
          <p:cNvSpPr/>
          <p:nvPr/>
        </p:nvSpPr>
        <p:spPr>
          <a:xfrm>
            <a:off x="685800" y="1280160"/>
            <a:ext cx="594360" cy="41149"/>
          </a:xfrm>
          <a:prstGeom prst="rect">
            <a:avLst/>
          </a:prstGeom>
          <a:solidFill>
            <a:srgbClr val="52827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" name="TextBox 5"/>
          <p:cNvSpPr txBox="1"/>
          <p:nvPr/>
        </p:nvSpPr>
        <p:spPr>
          <a:xfrm>
            <a:off x="11064240" y="6473952"/>
            <a:ext cx="411481" cy="286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 algn="r">
              <a:spcBef>
                <a:spcPts val="200"/>
              </a:spcBef>
              <a:defRPr b="1" sz="900">
                <a:solidFill>
                  <a:srgbClr val="686E7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18" name="Rounded Rectangle 6"/>
          <p:cNvSpPr/>
          <p:nvPr/>
        </p:nvSpPr>
        <p:spPr>
          <a:xfrm>
            <a:off x="822960" y="1691639"/>
            <a:ext cx="3291841" cy="1417321"/>
          </a:xfrm>
          <a:prstGeom prst="roundRect">
            <a:avLst>
              <a:gd name="adj" fmla="val 16667"/>
            </a:avLst>
          </a:prstGeom>
          <a:solidFill>
            <a:srgbClr val="F8EFE0"/>
          </a:solidFill>
          <a:ln>
            <a:solidFill>
              <a:srgbClr val="DCDCD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9" name="Rectangle 7"/>
          <p:cNvSpPr/>
          <p:nvPr/>
        </p:nvSpPr>
        <p:spPr>
          <a:xfrm>
            <a:off x="841247" y="1819655"/>
            <a:ext cx="50293" cy="1161289"/>
          </a:xfrm>
          <a:prstGeom prst="rect">
            <a:avLst/>
          </a:prstGeom>
          <a:solidFill>
            <a:srgbClr val="AE74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" name="TextBox 8"/>
          <p:cNvSpPr txBox="1"/>
          <p:nvPr/>
        </p:nvSpPr>
        <p:spPr>
          <a:xfrm>
            <a:off x="1005839" y="1810511"/>
            <a:ext cx="2944369" cy="387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6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Customer tenure</a:t>
            </a:r>
          </a:p>
        </p:txBody>
      </p:sp>
      <p:sp>
        <p:nvSpPr>
          <p:cNvPr id="221" name="TextBox 9"/>
          <p:cNvSpPr txBox="1"/>
          <p:nvPr/>
        </p:nvSpPr>
        <p:spPr>
          <a:xfrm>
            <a:off x="996696" y="2059177"/>
            <a:ext cx="2944369" cy="1060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sz="15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Newer customers are often more likely to leave than customers who have stayed for several years.</a:t>
            </a:r>
          </a:p>
        </p:txBody>
      </p:sp>
      <p:sp>
        <p:nvSpPr>
          <p:cNvPr id="222" name="Rounded Rectangle 10"/>
          <p:cNvSpPr/>
          <p:nvPr/>
        </p:nvSpPr>
        <p:spPr>
          <a:xfrm>
            <a:off x="4434840" y="1691639"/>
            <a:ext cx="3291841" cy="1417321"/>
          </a:xfrm>
          <a:prstGeom prst="roundRect">
            <a:avLst>
              <a:gd name="adj" fmla="val 16667"/>
            </a:avLst>
          </a:prstGeom>
          <a:solidFill>
            <a:srgbClr val="EBF1F6"/>
          </a:solidFill>
          <a:ln>
            <a:solidFill>
              <a:srgbClr val="DCDCD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3" name="Rectangle 11"/>
          <p:cNvSpPr/>
          <p:nvPr/>
        </p:nvSpPr>
        <p:spPr>
          <a:xfrm>
            <a:off x="4453127" y="1819655"/>
            <a:ext cx="50293" cy="1161289"/>
          </a:xfrm>
          <a:prstGeom prst="rect">
            <a:avLst/>
          </a:prstGeom>
          <a:solidFill>
            <a:srgbClr val="426F9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4" name="TextBox 12"/>
          <p:cNvSpPr txBox="1"/>
          <p:nvPr/>
        </p:nvSpPr>
        <p:spPr>
          <a:xfrm>
            <a:off x="4617720" y="1810511"/>
            <a:ext cx="2944369" cy="387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6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Internet service</a:t>
            </a:r>
          </a:p>
        </p:txBody>
      </p:sp>
      <p:sp>
        <p:nvSpPr>
          <p:cNvPr id="225" name="TextBox 13"/>
          <p:cNvSpPr txBox="1"/>
          <p:nvPr/>
        </p:nvSpPr>
        <p:spPr>
          <a:xfrm>
            <a:off x="4608576" y="2096007"/>
            <a:ext cx="2944369" cy="1060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sz="15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Published analyses commonly report different churn rates between fiber-optic and DSL customers.</a:t>
            </a:r>
          </a:p>
        </p:txBody>
      </p:sp>
      <p:sp>
        <p:nvSpPr>
          <p:cNvPr id="226" name="Rounded Rectangle 14"/>
          <p:cNvSpPr/>
          <p:nvPr/>
        </p:nvSpPr>
        <p:spPr>
          <a:xfrm>
            <a:off x="8046719" y="1691639"/>
            <a:ext cx="3291841" cy="1417321"/>
          </a:xfrm>
          <a:prstGeom prst="roundRect">
            <a:avLst>
              <a:gd name="adj" fmla="val 16667"/>
            </a:avLst>
          </a:prstGeom>
          <a:solidFill>
            <a:srgbClr val="EBF2ED"/>
          </a:solidFill>
          <a:ln>
            <a:solidFill>
              <a:srgbClr val="DCDCD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7" name="Rectangle 15"/>
          <p:cNvSpPr/>
          <p:nvPr/>
        </p:nvSpPr>
        <p:spPr>
          <a:xfrm>
            <a:off x="8065007" y="1819655"/>
            <a:ext cx="50293" cy="1161289"/>
          </a:xfrm>
          <a:prstGeom prst="rect">
            <a:avLst/>
          </a:prstGeom>
          <a:solidFill>
            <a:srgbClr val="52827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8" name="TextBox 16"/>
          <p:cNvSpPr txBox="1"/>
          <p:nvPr/>
        </p:nvSpPr>
        <p:spPr>
          <a:xfrm>
            <a:off x="8229600" y="1810511"/>
            <a:ext cx="2944368" cy="387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6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Support services</a:t>
            </a:r>
          </a:p>
        </p:txBody>
      </p:sp>
      <p:sp>
        <p:nvSpPr>
          <p:cNvPr id="229" name="TextBox 17"/>
          <p:cNvSpPr txBox="1"/>
          <p:nvPr/>
        </p:nvSpPr>
        <p:spPr>
          <a:xfrm>
            <a:off x="8211311" y="2096007"/>
            <a:ext cx="2944369" cy="1060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sz="15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Services such as technical support and online security may be useful segments to investigate.</a:t>
            </a:r>
          </a:p>
        </p:txBody>
      </p:sp>
      <p:sp>
        <p:nvSpPr>
          <p:cNvPr id="230" name="TextBox 18"/>
          <p:cNvSpPr txBox="1"/>
          <p:nvPr/>
        </p:nvSpPr>
        <p:spPr>
          <a:xfrm>
            <a:off x="868680" y="3611879"/>
            <a:ext cx="4800601" cy="438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9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What we can learn</a:t>
            </a:r>
          </a:p>
        </p:txBody>
      </p:sp>
      <p:sp>
        <p:nvSpPr>
          <p:cNvPr id="231" name="TextBox 19"/>
          <p:cNvSpPr txBox="1"/>
          <p:nvPr/>
        </p:nvSpPr>
        <p:spPr>
          <a:xfrm>
            <a:off x="932688" y="4041647"/>
            <a:ext cx="4910328" cy="1190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/>
          <a:p>
            <a:pPr>
              <a:spcBef>
                <a:spcPts val="800"/>
              </a:spcBef>
              <a:defRPr sz="15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The early customer experience deserves attention.</a:t>
            </a:r>
          </a:p>
          <a:p>
            <a:pPr>
              <a:spcBef>
                <a:spcPts val="800"/>
              </a:spcBef>
              <a:defRPr sz="15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Service quality and value for money may affect satisfaction.</a:t>
            </a:r>
          </a:p>
          <a:p>
            <a:pPr>
              <a:spcBef>
                <a:spcPts val="800"/>
              </a:spcBef>
              <a:defRPr sz="15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Customer groups can have different needs.</a:t>
            </a:r>
          </a:p>
        </p:txBody>
      </p:sp>
      <p:sp>
        <p:nvSpPr>
          <p:cNvPr id="232" name="TextBox 20"/>
          <p:cNvSpPr txBox="1"/>
          <p:nvPr/>
        </p:nvSpPr>
        <p:spPr>
          <a:xfrm>
            <a:off x="6263640" y="3611879"/>
            <a:ext cx="4800601" cy="438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9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Suggested actions</a:t>
            </a:r>
          </a:p>
        </p:txBody>
      </p:sp>
      <p:sp>
        <p:nvSpPr>
          <p:cNvPr id="233" name="TextBox 21"/>
          <p:cNvSpPr txBox="1"/>
          <p:nvPr/>
        </p:nvSpPr>
        <p:spPr>
          <a:xfrm>
            <a:off x="6327647" y="4041647"/>
            <a:ext cx="4773169" cy="1190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/>
          <a:p>
            <a:pPr>
              <a:spcBef>
                <a:spcPts val="800"/>
              </a:spcBef>
              <a:defRPr sz="15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Offer onboarding check-ins during the first 90 days.</a:t>
            </a:r>
          </a:p>
          <a:p>
            <a:pPr>
              <a:spcBef>
                <a:spcPts val="800"/>
              </a:spcBef>
              <a:defRPr sz="15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Review complaints and unresolved support cases.</a:t>
            </a:r>
          </a:p>
          <a:p>
            <a:pPr>
              <a:spcBef>
                <a:spcPts val="800"/>
              </a:spcBef>
              <a:defRPr sz="15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Compare churn rates by service and payment method.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9F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Box 1"/>
          <p:cNvSpPr txBox="1"/>
          <p:nvPr/>
        </p:nvSpPr>
        <p:spPr>
          <a:xfrm>
            <a:off x="658368" y="320040"/>
            <a:ext cx="10881360" cy="298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000">
                <a:solidFill>
                  <a:srgbClr val="426F9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DATA SCIENCE  |  SEMESTER V  |  INNOVATIVE IT</a:t>
            </a:r>
          </a:p>
        </p:txBody>
      </p:sp>
      <p:sp>
        <p:nvSpPr>
          <p:cNvPr id="236" name="TextBox 2"/>
          <p:cNvSpPr txBox="1"/>
          <p:nvPr/>
        </p:nvSpPr>
        <p:spPr>
          <a:xfrm>
            <a:off x="658368" y="658367"/>
            <a:ext cx="10881360" cy="552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27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How the experiment is carried out</a:t>
            </a:r>
          </a:p>
        </p:txBody>
      </p:sp>
      <p:sp>
        <p:nvSpPr>
          <p:cNvPr id="237" name="Rectangle 3"/>
          <p:cNvSpPr/>
          <p:nvPr/>
        </p:nvSpPr>
        <p:spPr>
          <a:xfrm>
            <a:off x="685800" y="1280160"/>
            <a:ext cx="594360" cy="41149"/>
          </a:xfrm>
          <a:prstGeom prst="rect">
            <a:avLst/>
          </a:prstGeom>
          <a:solidFill>
            <a:srgbClr val="52827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8" name="TextBox 5"/>
          <p:cNvSpPr txBox="1"/>
          <p:nvPr/>
        </p:nvSpPr>
        <p:spPr>
          <a:xfrm>
            <a:off x="11064240" y="6473952"/>
            <a:ext cx="411481" cy="286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 algn="r">
              <a:spcBef>
                <a:spcPts val="200"/>
              </a:spcBef>
              <a:defRPr b="1" sz="900">
                <a:solidFill>
                  <a:srgbClr val="686E7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239" name="Rounded Rectangle 6"/>
          <p:cNvSpPr/>
          <p:nvPr/>
        </p:nvSpPr>
        <p:spPr>
          <a:xfrm>
            <a:off x="822960" y="1645920"/>
            <a:ext cx="5074921" cy="103327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DCD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0" name="Rectangle 7"/>
          <p:cNvSpPr/>
          <p:nvPr/>
        </p:nvSpPr>
        <p:spPr>
          <a:xfrm>
            <a:off x="841247" y="1773935"/>
            <a:ext cx="50293" cy="777240"/>
          </a:xfrm>
          <a:prstGeom prst="rect">
            <a:avLst/>
          </a:prstGeom>
          <a:solidFill>
            <a:srgbClr val="426F9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1" name="TextBox 8"/>
          <p:cNvSpPr txBox="1"/>
          <p:nvPr/>
        </p:nvSpPr>
        <p:spPr>
          <a:xfrm>
            <a:off x="1005840" y="1764792"/>
            <a:ext cx="4727448" cy="387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6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1. Load the data</a:t>
            </a:r>
          </a:p>
        </p:txBody>
      </p:sp>
      <p:sp>
        <p:nvSpPr>
          <p:cNvPr id="242" name="TextBox 9"/>
          <p:cNvSpPr txBox="1"/>
          <p:nvPr/>
        </p:nvSpPr>
        <p:spPr>
          <a:xfrm>
            <a:off x="1005840" y="2148839"/>
            <a:ext cx="4727448" cy="578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sz="14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Read the CSV file and inspect its shape, column names and data types.</a:t>
            </a:r>
          </a:p>
        </p:txBody>
      </p:sp>
      <p:sp>
        <p:nvSpPr>
          <p:cNvPr id="243" name="Rounded Rectangle 10"/>
          <p:cNvSpPr/>
          <p:nvPr/>
        </p:nvSpPr>
        <p:spPr>
          <a:xfrm>
            <a:off x="6355079" y="1645920"/>
            <a:ext cx="5074921" cy="103327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DCD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4" name="Rectangle 11"/>
          <p:cNvSpPr/>
          <p:nvPr/>
        </p:nvSpPr>
        <p:spPr>
          <a:xfrm>
            <a:off x="6373367" y="1773935"/>
            <a:ext cx="50293" cy="777240"/>
          </a:xfrm>
          <a:prstGeom prst="rect">
            <a:avLst/>
          </a:prstGeom>
          <a:solidFill>
            <a:srgbClr val="52827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5" name="TextBox 12"/>
          <p:cNvSpPr txBox="1"/>
          <p:nvPr/>
        </p:nvSpPr>
        <p:spPr>
          <a:xfrm>
            <a:off x="6537959" y="1764792"/>
            <a:ext cx="4727449" cy="387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6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2. Check quality</a:t>
            </a:r>
          </a:p>
        </p:txBody>
      </p:sp>
      <p:sp>
        <p:nvSpPr>
          <p:cNvPr id="246" name="TextBox 13"/>
          <p:cNvSpPr txBox="1"/>
          <p:nvPr/>
        </p:nvSpPr>
        <p:spPr>
          <a:xfrm>
            <a:off x="6537959" y="2148839"/>
            <a:ext cx="4727449" cy="578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sz="14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Look for blank values, duplicates and unexpected values in the target column.</a:t>
            </a:r>
          </a:p>
        </p:txBody>
      </p:sp>
      <p:sp>
        <p:nvSpPr>
          <p:cNvPr id="247" name="Rounded Rectangle 14"/>
          <p:cNvSpPr/>
          <p:nvPr/>
        </p:nvSpPr>
        <p:spPr>
          <a:xfrm>
            <a:off x="822960" y="2999232"/>
            <a:ext cx="5074921" cy="103327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DCD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8" name="Rectangle 15"/>
          <p:cNvSpPr/>
          <p:nvPr/>
        </p:nvSpPr>
        <p:spPr>
          <a:xfrm>
            <a:off x="841247" y="3127248"/>
            <a:ext cx="50293" cy="777240"/>
          </a:xfrm>
          <a:prstGeom prst="rect">
            <a:avLst/>
          </a:prstGeom>
          <a:solidFill>
            <a:srgbClr val="426F9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9" name="TextBox 16"/>
          <p:cNvSpPr txBox="1"/>
          <p:nvPr/>
        </p:nvSpPr>
        <p:spPr>
          <a:xfrm>
            <a:off x="1005840" y="3118104"/>
            <a:ext cx="4727448" cy="387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6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3. Prepare features</a:t>
            </a:r>
          </a:p>
        </p:txBody>
      </p:sp>
      <p:sp>
        <p:nvSpPr>
          <p:cNvPr id="250" name="TextBox 17"/>
          <p:cNvSpPr txBox="1"/>
          <p:nvPr/>
        </p:nvSpPr>
        <p:spPr>
          <a:xfrm>
            <a:off x="1005840" y="3502152"/>
            <a:ext cx="4727448" cy="578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sz="14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Convert TotalCharges to numeric and encode categorical fields.</a:t>
            </a:r>
          </a:p>
        </p:txBody>
      </p:sp>
      <p:sp>
        <p:nvSpPr>
          <p:cNvPr id="251" name="Rounded Rectangle 18"/>
          <p:cNvSpPr/>
          <p:nvPr/>
        </p:nvSpPr>
        <p:spPr>
          <a:xfrm>
            <a:off x="6355079" y="2999232"/>
            <a:ext cx="5074921" cy="103327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DCD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2" name="Rectangle 19"/>
          <p:cNvSpPr/>
          <p:nvPr/>
        </p:nvSpPr>
        <p:spPr>
          <a:xfrm>
            <a:off x="6373367" y="3127248"/>
            <a:ext cx="50293" cy="777240"/>
          </a:xfrm>
          <a:prstGeom prst="rect">
            <a:avLst/>
          </a:prstGeom>
          <a:solidFill>
            <a:srgbClr val="52827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3" name="TextBox 20"/>
          <p:cNvSpPr txBox="1"/>
          <p:nvPr/>
        </p:nvSpPr>
        <p:spPr>
          <a:xfrm>
            <a:off x="6537959" y="3118104"/>
            <a:ext cx="4727449" cy="387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6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4. Split the data</a:t>
            </a:r>
          </a:p>
        </p:txBody>
      </p:sp>
      <p:sp>
        <p:nvSpPr>
          <p:cNvPr id="254" name="TextBox 21"/>
          <p:cNvSpPr txBox="1"/>
          <p:nvPr/>
        </p:nvSpPr>
        <p:spPr>
          <a:xfrm>
            <a:off x="6537959" y="3502152"/>
            <a:ext cx="4727449" cy="578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sz="14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Keep a stratified test set that is not used during model fitting.</a:t>
            </a:r>
          </a:p>
        </p:txBody>
      </p:sp>
      <p:sp>
        <p:nvSpPr>
          <p:cNvPr id="255" name="Rounded Rectangle 22"/>
          <p:cNvSpPr/>
          <p:nvPr/>
        </p:nvSpPr>
        <p:spPr>
          <a:xfrm>
            <a:off x="822960" y="4352544"/>
            <a:ext cx="5074921" cy="103327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DCD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6" name="Rectangle 23"/>
          <p:cNvSpPr/>
          <p:nvPr/>
        </p:nvSpPr>
        <p:spPr>
          <a:xfrm>
            <a:off x="841247" y="4480559"/>
            <a:ext cx="50293" cy="777240"/>
          </a:xfrm>
          <a:prstGeom prst="rect">
            <a:avLst/>
          </a:prstGeom>
          <a:solidFill>
            <a:srgbClr val="426F9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7" name="TextBox 24"/>
          <p:cNvSpPr txBox="1"/>
          <p:nvPr/>
        </p:nvSpPr>
        <p:spPr>
          <a:xfrm>
            <a:off x="1005840" y="4471415"/>
            <a:ext cx="4727448" cy="387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6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5. Train models</a:t>
            </a:r>
          </a:p>
        </p:txBody>
      </p:sp>
      <p:sp>
        <p:nvSpPr>
          <p:cNvPr id="258" name="TextBox 25"/>
          <p:cNvSpPr txBox="1"/>
          <p:nvPr/>
        </p:nvSpPr>
        <p:spPr>
          <a:xfrm>
            <a:off x="1005840" y="4855464"/>
            <a:ext cx="4727448" cy="578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sz="14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Start with Logistic Regression and compare it with Random Forest.</a:t>
            </a:r>
          </a:p>
        </p:txBody>
      </p:sp>
      <p:sp>
        <p:nvSpPr>
          <p:cNvPr id="259" name="Rounded Rectangle 26"/>
          <p:cNvSpPr/>
          <p:nvPr/>
        </p:nvSpPr>
        <p:spPr>
          <a:xfrm>
            <a:off x="6355079" y="4352544"/>
            <a:ext cx="5074921" cy="103327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DCD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0" name="Rectangle 27"/>
          <p:cNvSpPr/>
          <p:nvPr/>
        </p:nvSpPr>
        <p:spPr>
          <a:xfrm>
            <a:off x="6373367" y="4480559"/>
            <a:ext cx="50293" cy="777240"/>
          </a:xfrm>
          <a:prstGeom prst="rect">
            <a:avLst/>
          </a:prstGeom>
          <a:solidFill>
            <a:srgbClr val="52827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1" name="TextBox 28"/>
          <p:cNvSpPr txBox="1"/>
          <p:nvPr/>
        </p:nvSpPr>
        <p:spPr>
          <a:xfrm>
            <a:off x="6537959" y="4471415"/>
            <a:ext cx="4727449" cy="387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6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6. Evaluate results</a:t>
            </a:r>
          </a:p>
        </p:txBody>
      </p:sp>
      <p:sp>
        <p:nvSpPr>
          <p:cNvPr id="262" name="TextBox 29"/>
          <p:cNvSpPr txBox="1"/>
          <p:nvPr/>
        </p:nvSpPr>
        <p:spPr>
          <a:xfrm>
            <a:off x="6537959" y="4855464"/>
            <a:ext cx="4727449" cy="578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sz="14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Report precision, recall, F1-score, ROC-AUC and the confusion matrix.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9F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Box 1"/>
          <p:cNvSpPr txBox="1"/>
          <p:nvPr/>
        </p:nvSpPr>
        <p:spPr>
          <a:xfrm>
            <a:off x="658368" y="320040"/>
            <a:ext cx="10881360" cy="298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000">
                <a:solidFill>
                  <a:srgbClr val="426F9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DATA SCIENCE  |  SEMESTER V  |  INNOVATIVE IT</a:t>
            </a:r>
          </a:p>
        </p:txBody>
      </p:sp>
      <p:sp>
        <p:nvSpPr>
          <p:cNvPr id="265" name="TextBox 2"/>
          <p:cNvSpPr txBox="1"/>
          <p:nvPr/>
        </p:nvSpPr>
        <p:spPr>
          <a:xfrm>
            <a:off x="658368" y="658367"/>
            <a:ext cx="10881360" cy="552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27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Model evaluation: what the scores mean</a:t>
            </a:r>
          </a:p>
        </p:txBody>
      </p:sp>
      <p:sp>
        <p:nvSpPr>
          <p:cNvPr id="266" name="Rectangle 3"/>
          <p:cNvSpPr/>
          <p:nvPr/>
        </p:nvSpPr>
        <p:spPr>
          <a:xfrm>
            <a:off x="685800" y="1280160"/>
            <a:ext cx="594360" cy="41149"/>
          </a:xfrm>
          <a:prstGeom prst="rect">
            <a:avLst/>
          </a:prstGeom>
          <a:solidFill>
            <a:srgbClr val="52827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7" name="TextBox 5"/>
          <p:cNvSpPr txBox="1"/>
          <p:nvPr/>
        </p:nvSpPr>
        <p:spPr>
          <a:xfrm>
            <a:off x="11064240" y="6473952"/>
            <a:ext cx="411481" cy="286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 algn="r">
              <a:spcBef>
                <a:spcPts val="200"/>
              </a:spcBef>
              <a:defRPr b="1" sz="900">
                <a:solidFill>
                  <a:srgbClr val="686E7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268" name="TextBox 6"/>
          <p:cNvSpPr txBox="1"/>
          <p:nvPr/>
        </p:nvSpPr>
        <p:spPr>
          <a:xfrm>
            <a:off x="822959" y="1645920"/>
            <a:ext cx="10332722" cy="628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sz="16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 goal of a classifier is not simply to achieve a high score. In a churn project, missing a customer who is about to leave may be costly, while contacting a customer unnecessarily also has a cost.</a:t>
            </a:r>
          </a:p>
        </p:txBody>
      </p:sp>
      <p:sp>
        <p:nvSpPr>
          <p:cNvPr id="269" name="Rounded Rectangle 7"/>
          <p:cNvSpPr/>
          <p:nvPr/>
        </p:nvSpPr>
        <p:spPr>
          <a:xfrm>
            <a:off x="822960" y="2560320"/>
            <a:ext cx="5074921" cy="1051561"/>
          </a:xfrm>
          <a:prstGeom prst="roundRect">
            <a:avLst>
              <a:gd name="adj" fmla="val 16667"/>
            </a:avLst>
          </a:prstGeom>
          <a:solidFill>
            <a:srgbClr val="EBF1F6"/>
          </a:solidFill>
          <a:ln>
            <a:solidFill>
              <a:srgbClr val="DCDCD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0" name="Rectangle 8"/>
          <p:cNvSpPr/>
          <p:nvPr/>
        </p:nvSpPr>
        <p:spPr>
          <a:xfrm>
            <a:off x="841247" y="2688335"/>
            <a:ext cx="50293" cy="795528"/>
          </a:xfrm>
          <a:prstGeom prst="rect">
            <a:avLst/>
          </a:prstGeom>
          <a:solidFill>
            <a:srgbClr val="426F9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1" name="TextBox 9"/>
          <p:cNvSpPr txBox="1"/>
          <p:nvPr/>
        </p:nvSpPr>
        <p:spPr>
          <a:xfrm>
            <a:off x="1005840" y="2679190"/>
            <a:ext cx="4727448" cy="387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6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Precision</a:t>
            </a:r>
          </a:p>
        </p:txBody>
      </p:sp>
      <p:sp>
        <p:nvSpPr>
          <p:cNvPr id="272" name="TextBox 10"/>
          <p:cNvSpPr txBox="1"/>
          <p:nvPr/>
        </p:nvSpPr>
        <p:spPr>
          <a:xfrm>
            <a:off x="1005840" y="3063238"/>
            <a:ext cx="4727448" cy="603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sz="15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Of the customers predicted to churn, how many actually churned?</a:t>
            </a:r>
          </a:p>
        </p:txBody>
      </p:sp>
      <p:sp>
        <p:nvSpPr>
          <p:cNvPr id="273" name="Rounded Rectangle 11"/>
          <p:cNvSpPr/>
          <p:nvPr/>
        </p:nvSpPr>
        <p:spPr>
          <a:xfrm>
            <a:off x="6217920" y="2560320"/>
            <a:ext cx="5074921" cy="1051561"/>
          </a:xfrm>
          <a:prstGeom prst="roundRect">
            <a:avLst>
              <a:gd name="adj" fmla="val 16667"/>
            </a:avLst>
          </a:prstGeom>
          <a:solidFill>
            <a:srgbClr val="EBF2ED"/>
          </a:solidFill>
          <a:ln>
            <a:solidFill>
              <a:srgbClr val="DCDCD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4" name="Rectangle 12"/>
          <p:cNvSpPr/>
          <p:nvPr/>
        </p:nvSpPr>
        <p:spPr>
          <a:xfrm>
            <a:off x="6236206" y="2688335"/>
            <a:ext cx="50293" cy="795528"/>
          </a:xfrm>
          <a:prstGeom prst="rect">
            <a:avLst/>
          </a:prstGeom>
          <a:solidFill>
            <a:srgbClr val="52827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5" name="TextBox 13"/>
          <p:cNvSpPr txBox="1"/>
          <p:nvPr/>
        </p:nvSpPr>
        <p:spPr>
          <a:xfrm>
            <a:off x="6400800" y="2679190"/>
            <a:ext cx="4727448" cy="387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6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Recall</a:t>
            </a:r>
          </a:p>
        </p:txBody>
      </p:sp>
      <p:sp>
        <p:nvSpPr>
          <p:cNvPr id="276" name="TextBox 14"/>
          <p:cNvSpPr txBox="1"/>
          <p:nvPr/>
        </p:nvSpPr>
        <p:spPr>
          <a:xfrm>
            <a:off x="6400800" y="3063238"/>
            <a:ext cx="4727448" cy="603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sz="15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Of all customers who churned, how many did the model identify?</a:t>
            </a:r>
          </a:p>
        </p:txBody>
      </p:sp>
      <p:sp>
        <p:nvSpPr>
          <p:cNvPr id="277" name="Rounded Rectangle 15"/>
          <p:cNvSpPr/>
          <p:nvPr/>
        </p:nvSpPr>
        <p:spPr>
          <a:xfrm>
            <a:off x="822960" y="3886200"/>
            <a:ext cx="5074921" cy="10515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DCD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8" name="Rectangle 16"/>
          <p:cNvSpPr/>
          <p:nvPr/>
        </p:nvSpPr>
        <p:spPr>
          <a:xfrm>
            <a:off x="841247" y="4014215"/>
            <a:ext cx="50293" cy="795528"/>
          </a:xfrm>
          <a:prstGeom prst="rect">
            <a:avLst/>
          </a:prstGeom>
          <a:solidFill>
            <a:srgbClr val="AE74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9" name="TextBox 17"/>
          <p:cNvSpPr txBox="1"/>
          <p:nvPr/>
        </p:nvSpPr>
        <p:spPr>
          <a:xfrm>
            <a:off x="1005840" y="4005071"/>
            <a:ext cx="4727448" cy="387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6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F1-score</a:t>
            </a:r>
          </a:p>
        </p:txBody>
      </p:sp>
      <p:sp>
        <p:nvSpPr>
          <p:cNvPr id="280" name="TextBox 18"/>
          <p:cNvSpPr txBox="1"/>
          <p:nvPr/>
        </p:nvSpPr>
        <p:spPr>
          <a:xfrm>
            <a:off x="1005840" y="4389120"/>
            <a:ext cx="4727448" cy="603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sz="15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 combined measure that balances precision and recall.</a:t>
            </a:r>
          </a:p>
        </p:txBody>
      </p:sp>
      <p:sp>
        <p:nvSpPr>
          <p:cNvPr id="281" name="Rounded Rectangle 19"/>
          <p:cNvSpPr/>
          <p:nvPr/>
        </p:nvSpPr>
        <p:spPr>
          <a:xfrm>
            <a:off x="6217920" y="3886200"/>
            <a:ext cx="5074921" cy="10515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DCD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2" name="Rectangle 20"/>
          <p:cNvSpPr/>
          <p:nvPr/>
        </p:nvSpPr>
        <p:spPr>
          <a:xfrm>
            <a:off x="6236206" y="4014215"/>
            <a:ext cx="50293" cy="795528"/>
          </a:xfrm>
          <a:prstGeom prst="rect">
            <a:avLst/>
          </a:prstGeom>
          <a:solidFill>
            <a:srgbClr val="426F9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3" name="TextBox 21"/>
          <p:cNvSpPr txBox="1"/>
          <p:nvPr/>
        </p:nvSpPr>
        <p:spPr>
          <a:xfrm>
            <a:off x="6400800" y="4005071"/>
            <a:ext cx="4727448" cy="387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6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ROC-AUC</a:t>
            </a:r>
          </a:p>
        </p:txBody>
      </p:sp>
      <p:sp>
        <p:nvSpPr>
          <p:cNvPr id="284" name="TextBox 22"/>
          <p:cNvSpPr txBox="1"/>
          <p:nvPr/>
        </p:nvSpPr>
        <p:spPr>
          <a:xfrm>
            <a:off x="6400800" y="4389120"/>
            <a:ext cx="4727448" cy="603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sz="15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Measures how well the model ranks churners above non-churners across thresholds.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9F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TextBox 1"/>
          <p:cNvSpPr txBox="1"/>
          <p:nvPr/>
        </p:nvSpPr>
        <p:spPr>
          <a:xfrm>
            <a:off x="658368" y="320040"/>
            <a:ext cx="10881360" cy="298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000">
                <a:solidFill>
                  <a:srgbClr val="426F9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DATA SCIENCE  |  SEMESTER V  |  INNOVATIVE IT</a:t>
            </a:r>
          </a:p>
        </p:txBody>
      </p:sp>
      <p:sp>
        <p:nvSpPr>
          <p:cNvPr id="287" name="TextBox 2"/>
          <p:cNvSpPr txBox="1"/>
          <p:nvPr/>
        </p:nvSpPr>
        <p:spPr>
          <a:xfrm>
            <a:off x="658368" y="658367"/>
            <a:ext cx="10881360" cy="552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27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Overall outcome and recommendations</a:t>
            </a:r>
          </a:p>
        </p:txBody>
      </p:sp>
      <p:sp>
        <p:nvSpPr>
          <p:cNvPr id="288" name="Rectangle 3"/>
          <p:cNvSpPr/>
          <p:nvPr/>
        </p:nvSpPr>
        <p:spPr>
          <a:xfrm>
            <a:off x="685800" y="1280160"/>
            <a:ext cx="594360" cy="41149"/>
          </a:xfrm>
          <a:prstGeom prst="rect">
            <a:avLst/>
          </a:prstGeom>
          <a:solidFill>
            <a:srgbClr val="52827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9" name="TextBox 5"/>
          <p:cNvSpPr txBox="1"/>
          <p:nvPr/>
        </p:nvSpPr>
        <p:spPr>
          <a:xfrm>
            <a:off x="11064240" y="6473952"/>
            <a:ext cx="411481" cy="286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 algn="r">
              <a:spcBef>
                <a:spcPts val="200"/>
              </a:spcBef>
              <a:defRPr b="1" sz="900">
                <a:solidFill>
                  <a:srgbClr val="686E7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290" name="TextBox 6"/>
          <p:cNvSpPr txBox="1"/>
          <p:nvPr/>
        </p:nvSpPr>
        <p:spPr>
          <a:xfrm>
            <a:off x="822960" y="1645920"/>
            <a:ext cx="4800601" cy="438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9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Main observations</a:t>
            </a:r>
          </a:p>
        </p:txBody>
      </p:sp>
      <p:sp>
        <p:nvSpPr>
          <p:cNvPr id="291" name="TextBox 7"/>
          <p:cNvSpPr txBox="1"/>
          <p:nvPr/>
        </p:nvSpPr>
        <p:spPr>
          <a:xfrm>
            <a:off x="905256" y="2075688"/>
            <a:ext cx="4910328" cy="2143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Around 26.5% of records are labelled as churned.</a:t>
            </a:r>
          </a:p>
          <a:p>
            <a:pPr>
              <a:spcBef>
                <a:spcPts val="1000"/>
              </a:spcBef>
              <a:defRPr sz="16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Contract type is strongly associated with churn in reported analyses.</a:t>
            </a:r>
          </a:p>
          <a:p>
            <a:pPr>
              <a:spcBef>
                <a:spcPts val="1000"/>
              </a:spcBef>
              <a:defRPr sz="16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Tenure and service-related fields are worth investigating.</a:t>
            </a:r>
          </a:p>
          <a:p>
            <a:pPr>
              <a:spcBef>
                <a:spcPts val="1000"/>
              </a:spcBef>
              <a:defRPr sz="16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The target is imbalanced, so use more than one evaluation metric.</a:t>
            </a:r>
          </a:p>
        </p:txBody>
      </p:sp>
      <p:sp>
        <p:nvSpPr>
          <p:cNvPr id="292" name="TextBox 8"/>
          <p:cNvSpPr txBox="1"/>
          <p:nvPr/>
        </p:nvSpPr>
        <p:spPr>
          <a:xfrm>
            <a:off x="6263640" y="1645920"/>
            <a:ext cx="4800601" cy="438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9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Practical recommendations</a:t>
            </a:r>
          </a:p>
        </p:txBody>
      </p:sp>
      <p:sp>
        <p:nvSpPr>
          <p:cNvPr id="293" name="TextBox 9"/>
          <p:cNvSpPr txBox="1"/>
          <p:nvPr/>
        </p:nvSpPr>
        <p:spPr>
          <a:xfrm>
            <a:off x="6345935" y="2075688"/>
            <a:ext cx="4818889" cy="2384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Pay extra attention to customers in their first months.</a:t>
            </a:r>
          </a:p>
          <a:p>
            <a:pPr>
              <a:spcBef>
                <a:spcPts val="1000"/>
              </a:spcBef>
              <a:defRPr sz="16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Review month-to-month customers before renewal dates.</a:t>
            </a:r>
          </a:p>
          <a:p>
            <a:pPr>
              <a:spcBef>
                <a:spcPts val="1000"/>
              </a:spcBef>
              <a:defRPr sz="16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Improve support follow-up and investigate recurring complaints.</a:t>
            </a:r>
          </a:p>
          <a:p>
            <a:pPr>
              <a:spcBef>
                <a:spcPts val="1000"/>
              </a:spcBef>
              <a:defRPr sz="16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Test retention offers and measure churn after the intervention.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9F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TextBox 1"/>
          <p:cNvSpPr txBox="1"/>
          <p:nvPr/>
        </p:nvSpPr>
        <p:spPr>
          <a:xfrm>
            <a:off x="658368" y="320040"/>
            <a:ext cx="10881360" cy="298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000">
                <a:solidFill>
                  <a:srgbClr val="426F9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DATA SCIENCE  |  SEMESTER V  |  INNOVATIVE IT</a:t>
            </a:r>
          </a:p>
        </p:txBody>
      </p:sp>
      <p:sp>
        <p:nvSpPr>
          <p:cNvPr id="296" name="TextBox 2"/>
          <p:cNvSpPr txBox="1"/>
          <p:nvPr/>
        </p:nvSpPr>
        <p:spPr>
          <a:xfrm>
            <a:off x="658368" y="658367"/>
            <a:ext cx="10881360" cy="552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27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Limitations and responsible use</a:t>
            </a:r>
          </a:p>
        </p:txBody>
      </p:sp>
      <p:sp>
        <p:nvSpPr>
          <p:cNvPr id="297" name="Rectangle 3"/>
          <p:cNvSpPr/>
          <p:nvPr/>
        </p:nvSpPr>
        <p:spPr>
          <a:xfrm>
            <a:off x="685800" y="1280160"/>
            <a:ext cx="594360" cy="41149"/>
          </a:xfrm>
          <a:prstGeom prst="rect">
            <a:avLst/>
          </a:prstGeom>
          <a:solidFill>
            <a:srgbClr val="52827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8" name="TextBox 5"/>
          <p:cNvSpPr txBox="1"/>
          <p:nvPr/>
        </p:nvSpPr>
        <p:spPr>
          <a:xfrm>
            <a:off x="11064240" y="6473952"/>
            <a:ext cx="411481" cy="286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 algn="r">
              <a:spcBef>
                <a:spcPts val="200"/>
              </a:spcBef>
              <a:defRPr b="1" sz="900">
                <a:solidFill>
                  <a:srgbClr val="686E7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99" name="TextBox 6"/>
          <p:cNvSpPr txBox="1"/>
          <p:nvPr/>
        </p:nvSpPr>
        <p:spPr>
          <a:xfrm>
            <a:off x="868679" y="1645920"/>
            <a:ext cx="10332722" cy="654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sz="17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 results should be interpreted carefully. A public dataset is useful for learning, but it does not represent every telecom provider or every customer population.</a:t>
            </a:r>
          </a:p>
        </p:txBody>
      </p:sp>
      <p:sp>
        <p:nvSpPr>
          <p:cNvPr id="300" name="TextBox 7"/>
          <p:cNvSpPr txBox="1"/>
          <p:nvPr/>
        </p:nvSpPr>
        <p:spPr>
          <a:xfrm>
            <a:off x="950975" y="2441448"/>
            <a:ext cx="10168130" cy="1889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The dataset represents a fictional provider and may not reflect current market conditions.</a:t>
            </a:r>
          </a:p>
          <a:p>
            <a:pPr>
              <a:spcBef>
                <a:spcPts val="1200"/>
              </a:spcBef>
              <a:defRPr sz="16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It is a snapshot of customers rather than a complete history of changes over time.</a:t>
            </a:r>
          </a:p>
          <a:p>
            <a:pPr>
              <a:spcBef>
                <a:spcPts val="1200"/>
              </a:spcBef>
              <a:defRPr sz="16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Published churn patterns may vary depending on the cleaning and analysis method.</a:t>
            </a:r>
          </a:p>
          <a:p>
            <a:pPr>
              <a:spcBef>
                <a:spcPts val="1200"/>
              </a:spcBef>
              <a:defRPr sz="16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Predicted risk is a probability, not a guarantee that a customer will leave.</a:t>
            </a:r>
          </a:p>
          <a:p>
            <a:pPr>
              <a:spcBef>
                <a:spcPts val="1200"/>
              </a:spcBef>
              <a:defRPr sz="16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Customer files should be handled securely, with appropriate access and privacy controls.</a:t>
            </a:r>
          </a:p>
        </p:txBody>
      </p:sp>
      <p:sp>
        <p:nvSpPr>
          <p:cNvPr id="301" name="Rounded Rectangle 8"/>
          <p:cNvSpPr/>
          <p:nvPr/>
        </p:nvSpPr>
        <p:spPr>
          <a:xfrm>
            <a:off x="868680" y="4699735"/>
            <a:ext cx="10332720" cy="685801"/>
          </a:xfrm>
          <a:prstGeom prst="roundRect">
            <a:avLst>
              <a:gd name="adj" fmla="val 16667"/>
            </a:avLst>
          </a:prstGeom>
          <a:solidFill>
            <a:srgbClr val="EBF2ED"/>
          </a:solidFill>
          <a:ln>
            <a:solidFill>
              <a:srgbClr val="DCDCD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2" name="Rectangle 9"/>
          <p:cNvSpPr/>
          <p:nvPr/>
        </p:nvSpPr>
        <p:spPr>
          <a:xfrm>
            <a:off x="886968" y="4827751"/>
            <a:ext cx="50293" cy="429769"/>
          </a:xfrm>
          <a:prstGeom prst="rect">
            <a:avLst/>
          </a:prstGeom>
          <a:solidFill>
            <a:srgbClr val="52827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3" name="TextBox 10"/>
          <p:cNvSpPr txBox="1"/>
          <p:nvPr/>
        </p:nvSpPr>
        <p:spPr>
          <a:xfrm>
            <a:off x="1042416" y="4848833"/>
            <a:ext cx="9985249" cy="387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6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Responsible use</a:t>
            </a:r>
          </a:p>
        </p:txBody>
      </p:sp>
      <p:sp>
        <p:nvSpPr>
          <p:cNvPr id="304" name="TextBox 11"/>
          <p:cNvSpPr txBox="1"/>
          <p:nvPr/>
        </p:nvSpPr>
        <p:spPr>
          <a:xfrm>
            <a:off x="858442" y="5561075"/>
            <a:ext cx="9985249" cy="362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sz="1400">
                <a:solidFill>
                  <a:srgbClr val="3139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Use model output to support human review and better service—not to unfairly penalize customers.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9F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extBox 1"/>
          <p:cNvSpPr txBox="1"/>
          <p:nvPr/>
        </p:nvSpPr>
        <p:spPr>
          <a:xfrm>
            <a:off x="822959" y="685799"/>
            <a:ext cx="10241282" cy="3241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200">
                <a:solidFill>
                  <a:srgbClr val="020202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307" name="TextBox 2"/>
          <p:cNvSpPr txBox="1"/>
          <p:nvPr/>
        </p:nvSpPr>
        <p:spPr>
          <a:xfrm>
            <a:off x="822960" y="1234439"/>
            <a:ext cx="10424160" cy="590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2900">
                <a:solidFill>
                  <a:srgbClr val="020202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Customer data can guide better retention decisions</a:t>
            </a:r>
          </a:p>
        </p:txBody>
      </p:sp>
      <p:sp>
        <p:nvSpPr>
          <p:cNvPr id="308" name="TextBox 3"/>
          <p:cNvSpPr txBox="1"/>
          <p:nvPr/>
        </p:nvSpPr>
        <p:spPr>
          <a:xfrm>
            <a:off x="868680" y="2148839"/>
            <a:ext cx="9966960" cy="1263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>
                <a:solidFill>
                  <a:srgbClr val="020202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 dataset shows that churn is not evenly distributed across customers. Contract type, tenure and service-related patterns provide useful starting points for understanding customer behaviour. A carefully evaluated model can help prioritise follow-up, but the results should always be checked against real outcomes.</a:t>
            </a:r>
          </a:p>
        </p:txBody>
      </p:sp>
      <p:sp>
        <p:nvSpPr>
          <p:cNvPr id="309" name="Rounded Rectangle 4"/>
          <p:cNvSpPr/>
          <p:nvPr/>
        </p:nvSpPr>
        <p:spPr>
          <a:xfrm>
            <a:off x="868680" y="3977638"/>
            <a:ext cx="3246121" cy="12344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52827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0" name="TextBox 5"/>
          <p:cNvSpPr txBox="1"/>
          <p:nvPr/>
        </p:nvSpPr>
        <p:spPr>
          <a:xfrm>
            <a:off x="1051560" y="4160520"/>
            <a:ext cx="502920" cy="324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311" name="TextBox 6"/>
          <p:cNvSpPr txBox="1"/>
          <p:nvPr/>
        </p:nvSpPr>
        <p:spPr>
          <a:xfrm>
            <a:off x="1051560" y="4462271"/>
            <a:ext cx="2834641" cy="400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7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Analyse</a:t>
            </a:r>
          </a:p>
        </p:txBody>
      </p:sp>
      <p:sp>
        <p:nvSpPr>
          <p:cNvPr id="312" name="TextBox 7"/>
          <p:cNvSpPr txBox="1"/>
          <p:nvPr/>
        </p:nvSpPr>
        <p:spPr>
          <a:xfrm>
            <a:off x="1051559" y="4773167"/>
            <a:ext cx="2788922" cy="324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sz="1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Understand the data before modelling.</a:t>
            </a:r>
          </a:p>
        </p:txBody>
      </p:sp>
      <p:sp>
        <p:nvSpPr>
          <p:cNvPr id="313" name="Rounded Rectangle 8"/>
          <p:cNvSpPr/>
          <p:nvPr/>
        </p:nvSpPr>
        <p:spPr>
          <a:xfrm>
            <a:off x="4572000" y="3977638"/>
            <a:ext cx="3246121" cy="1234441"/>
          </a:xfrm>
          <a:prstGeom prst="roundRect">
            <a:avLst>
              <a:gd name="adj" fmla="val 16667"/>
            </a:avLst>
          </a:prstGeom>
          <a:solidFill>
            <a:srgbClr val="ECF2ED"/>
          </a:solidFill>
          <a:ln>
            <a:solidFill>
              <a:srgbClr val="52827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4" name="TextBox 9"/>
          <p:cNvSpPr txBox="1"/>
          <p:nvPr/>
        </p:nvSpPr>
        <p:spPr>
          <a:xfrm>
            <a:off x="4800599" y="4160520"/>
            <a:ext cx="502920" cy="324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15" name="TextBox 10"/>
          <p:cNvSpPr txBox="1"/>
          <p:nvPr/>
        </p:nvSpPr>
        <p:spPr>
          <a:xfrm>
            <a:off x="4754879" y="4462271"/>
            <a:ext cx="2834641" cy="400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7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Evaluate</a:t>
            </a:r>
          </a:p>
        </p:txBody>
      </p:sp>
      <p:sp>
        <p:nvSpPr>
          <p:cNvPr id="316" name="TextBox 11"/>
          <p:cNvSpPr txBox="1"/>
          <p:nvPr/>
        </p:nvSpPr>
        <p:spPr>
          <a:xfrm>
            <a:off x="4800599" y="4773167"/>
            <a:ext cx="2788922" cy="501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sz="1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Measure performance on unseen records.</a:t>
            </a:r>
          </a:p>
        </p:txBody>
      </p:sp>
      <p:sp>
        <p:nvSpPr>
          <p:cNvPr id="317" name="Rounded Rectangle 12"/>
          <p:cNvSpPr/>
          <p:nvPr/>
        </p:nvSpPr>
        <p:spPr>
          <a:xfrm>
            <a:off x="8275318" y="3977638"/>
            <a:ext cx="3246121" cy="12344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52827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8" name="TextBox 13"/>
          <p:cNvSpPr txBox="1"/>
          <p:nvPr/>
        </p:nvSpPr>
        <p:spPr>
          <a:xfrm>
            <a:off x="8458199" y="4160520"/>
            <a:ext cx="502920" cy="324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319" name="TextBox 14"/>
          <p:cNvSpPr txBox="1"/>
          <p:nvPr/>
        </p:nvSpPr>
        <p:spPr>
          <a:xfrm>
            <a:off x="8458199" y="4462271"/>
            <a:ext cx="2834641" cy="400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7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Improve</a:t>
            </a:r>
          </a:p>
        </p:txBody>
      </p:sp>
      <p:sp>
        <p:nvSpPr>
          <p:cNvPr id="320" name="TextBox 15"/>
          <p:cNvSpPr txBox="1"/>
          <p:nvPr/>
        </p:nvSpPr>
        <p:spPr>
          <a:xfrm>
            <a:off x="8458199" y="4773167"/>
            <a:ext cx="2788921" cy="501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sz="1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Test retention actions and review results.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9F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TextBox 1"/>
          <p:cNvSpPr txBox="1"/>
          <p:nvPr/>
        </p:nvSpPr>
        <p:spPr>
          <a:xfrm>
            <a:off x="658368" y="320040"/>
            <a:ext cx="10881360" cy="298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000">
                <a:solidFill>
                  <a:srgbClr val="426F9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DATA SCIENCE  |  SEMESTER V  |  INNOVATIVE IT</a:t>
            </a:r>
          </a:p>
        </p:txBody>
      </p:sp>
      <p:sp>
        <p:nvSpPr>
          <p:cNvPr id="323" name="TextBox 2"/>
          <p:cNvSpPr txBox="1"/>
          <p:nvPr/>
        </p:nvSpPr>
        <p:spPr>
          <a:xfrm>
            <a:off x="658368" y="658367"/>
            <a:ext cx="10881360" cy="552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27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References</a:t>
            </a:r>
          </a:p>
        </p:txBody>
      </p:sp>
      <p:sp>
        <p:nvSpPr>
          <p:cNvPr id="324" name="Rectangle 3"/>
          <p:cNvSpPr/>
          <p:nvPr/>
        </p:nvSpPr>
        <p:spPr>
          <a:xfrm>
            <a:off x="685800" y="1280160"/>
            <a:ext cx="594360" cy="41149"/>
          </a:xfrm>
          <a:prstGeom prst="rect">
            <a:avLst/>
          </a:prstGeom>
          <a:solidFill>
            <a:srgbClr val="52827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5" name="TextBox 5"/>
          <p:cNvSpPr txBox="1"/>
          <p:nvPr/>
        </p:nvSpPr>
        <p:spPr>
          <a:xfrm>
            <a:off x="11064240" y="6473952"/>
            <a:ext cx="411481" cy="286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 algn="r">
              <a:spcBef>
                <a:spcPts val="200"/>
              </a:spcBef>
              <a:defRPr b="1" sz="900">
                <a:solidFill>
                  <a:srgbClr val="686E7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326" name="TextBox 6"/>
          <p:cNvSpPr txBox="1"/>
          <p:nvPr/>
        </p:nvSpPr>
        <p:spPr>
          <a:xfrm>
            <a:off x="822959" y="1645920"/>
            <a:ext cx="10332722" cy="451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20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Dataset and supporting material</a:t>
            </a:r>
          </a:p>
        </p:txBody>
      </p:sp>
      <p:sp>
        <p:nvSpPr>
          <p:cNvPr id="327" name="TextBox 7"/>
          <p:cNvSpPr txBox="1"/>
          <p:nvPr/>
        </p:nvSpPr>
        <p:spPr>
          <a:xfrm>
            <a:off x="914399" y="2240279"/>
            <a:ext cx="10241282" cy="374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5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1. IBM Telco Customer Churn dataset (CSV)</a:t>
            </a:r>
          </a:p>
        </p:txBody>
      </p:sp>
      <p:sp>
        <p:nvSpPr>
          <p:cNvPr id="328" name="TextBox 8"/>
          <p:cNvSpPr txBox="1"/>
          <p:nvPr/>
        </p:nvSpPr>
        <p:spPr>
          <a:xfrm>
            <a:off x="1170432" y="2532888"/>
            <a:ext cx="9966960" cy="298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sz="1000">
                <a:solidFill>
                  <a:srgbClr val="426F9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https://raw.githubusercontent.com/IBM/telco-customer-churn-on-icp4d/master/data/Telco-Customer-Churn.csv</a:t>
            </a:r>
          </a:p>
        </p:txBody>
      </p:sp>
      <p:sp>
        <p:nvSpPr>
          <p:cNvPr id="329" name="TextBox 9"/>
          <p:cNvSpPr txBox="1"/>
          <p:nvPr/>
        </p:nvSpPr>
        <p:spPr>
          <a:xfrm>
            <a:off x="914399" y="3017520"/>
            <a:ext cx="10241282" cy="374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5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2. Dataset documentation and schema</a:t>
            </a:r>
          </a:p>
        </p:txBody>
      </p:sp>
      <p:sp>
        <p:nvSpPr>
          <p:cNvPr id="330" name="TextBox 10"/>
          <p:cNvSpPr txBox="1"/>
          <p:nvPr/>
        </p:nvSpPr>
        <p:spPr>
          <a:xfrm>
            <a:off x="1170432" y="3310128"/>
            <a:ext cx="9966960" cy="298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sz="1000">
                <a:solidFill>
                  <a:srgbClr val="426F9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https://github.com/felipesbonatti/telco-customer-churn/blob/main/docs/data.md</a:t>
            </a:r>
          </a:p>
        </p:txBody>
      </p:sp>
      <p:sp>
        <p:nvSpPr>
          <p:cNvPr id="331" name="TextBox 11"/>
          <p:cNvSpPr txBox="1"/>
          <p:nvPr/>
        </p:nvSpPr>
        <p:spPr>
          <a:xfrm>
            <a:off x="914399" y="3794759"/>
            <a:ext cx="10241282" cy="374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5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3. Exploratory data analysis example</a:t>
            </a:r>
          </a:p>
        </p:txBody>
      </p:sp>
      <p:sp>
        <p:nvSpPr>
          <p:cNvPr id="332" name="TextBox 12"/>
          <p:cNvSpPr txBox="1"/>
          <p:nvPr/>
        </p:nvSpPr>
        <p:spPr>
          <a:xfrm>
            <a:off x="1170432" y="4087367"/>
            <a:ext cx="9966960" cy="298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sz="1000">
                <a:solidFill>
                  <a:srgbClr val="426F9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https://github.com/shamini-insights/Telco-Customer-Churn-EDA</a:t>
            </a:r>
          </a:p>
        </p:txBody>
      </p:sp>
      <p:sp>
        <p:nvSpPr>
          <p:cNvPr id="333" name="TextBox 13"/>
          <p:cNvSpPr txBox="1"/>
          <p:nvPr/>
        </p:nvSpPr>
        <p:spPr>
          <a:xfrm>
            <a:off x="914399" y="4572000"/>
            <a:ext cx="10241282" cy="374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b="1" sz="1500">
                <a:solidFill>
                  <a:srgbClr val="23364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4. Related research paper</a:t>
            </a:r>
          </a:p>
        </p:txBody>
      </p:sp>
      <p:sp>
        <p:nvSpPr>
          <p:cNvPr id="334" name="TextBox 14"/>
          <p:cNvSpPr txBox="1"/>
          <p:nvPr/>
        </p:nvSpPr>
        <p:spPr>
          <a:xfrm>
            <a:off x="1170432" y="4864608"/>
            <a:ext cx="9966960" cy="298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spcBef>
                <a:spcPts val="200"/>
              </a:spcBef>
              <a:defRPr sz="1000">
                <a:solidFill>
                  <a:srgbClr val="426F9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https://doi.org/10.1016/J.RICO.2023.100342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